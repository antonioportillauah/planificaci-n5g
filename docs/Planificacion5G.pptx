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1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39"/>
    <p:restoredTop sz="94658"/>
  </p:normalViewPr>
  <p:slideViewPr>
    <p:cSldViewPr snapToGrid="0">
      <p:cViewPr varScale="1">
        <p:scale>
          <a:sx n="116" d="100"/>
          <a:sy n="116" d="100"/>
        </p:scale>
        <p:origin x="9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/>
              <a:t>Zona urbana · 4,7 GHz · 50 MHz · 2 capas · TDD 75 % DL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Throughput DL por celda (Mbps)</c:v>
                </c:pt>
              </c:strCache>
            </c:strRef>
          </c:tx>
          <c:spPr>
            <a:solidFill>
              <a:srgbClr val="1F4E79"/>
            </a:solidFill>
          </c:spPr>
          <c:cat>
            <c:strRef>
              <c:f>Sheet1!$A$2:$A$29</c:f>
              <c:strCache>
                <c:ptCount val="2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14.2</c:v>
                </c:pt>
                <c:pt idx="1">
                  <c:v>23.0</c:v>
                </c:pt>
                <c:pt idx="2">
                  <c:v>36.9</c:v>
                </c:pt>
                <c:pt idx="3">
                  <c:v>53.8</c:v>
                </c:pt>
                <c:pt idx="4">
                  <c:v>72.2</c:v>
                </c:pt>
                <c:pt idx="5">
                  <c:v>89.1</c:v>
                </c:pt>
                <c:pt idx="6">
                  <c:v>104.4</c:v>
                </c:pt>
                <c:pt idx="7">
                  <c:v>116.8</c:v>
                </c:pt>
                <c:pt idx="8">
                  <c:v>132.1</c:v>
                </c:pt>
                <c:pt idx="9">
                  <c:v>147.5</c:v>
                </c:pt>
                <c:pt idx="10">
                  <c:v>156.7</c:v>
                </c:pt>
                <c:pt idx="11">
                  <c:v>165.9</c:v>
                </c:pt>
                <c:pt idx="12">
                  <c:v>184.4</c:v>
                </c:pt>
                <c:pt idx="13">
                  <c:v>202.8</c:v>
                </c:pt>
                <c:pt idx="14">
                  <c:v>221.3</c:v>
                </c:pt>
                <c:pt idx="15">
                  <c:v>239.7</c:v>
                </c:pt>
                <c:pt idx="16">
                  <c:v>258.1</c:v>
                </c:pt>
                <c:pt idx="17">
                  <c:v>276.6</c:v>
                </c:pt>
                <c:pt idx="18">
                  <c:v>295.1</c:v>
                </c:pt>
                <c:pt idx="19">
                  <c:v>313.5</c:v>
                </c:pt>
                <c:pt idx="20">
                  <c:v>325.7</c:v>
                </c:pt>
                <c:pt idx="21">
                  <c:v>337.9</c:v>
                </c:pt>
                <c:pt idx="22">
                  <c:v>356.7</c:v>
                </c:pt>
                <c:pt idx="23">
                  <c:v>381.2</c:v>
                </c:pt>
                <c:pt idx="24">
                  <c:v>405.9</c:v>
                </c:pt>
                <c:pt idx="25">
                  <c:v>418.1</c:v>
                </c:pt>
                <c:pt idx="26">
                  <c:v>430.2</c:v>
                </c:pt>
                <c:pt idx="27">
                  <c:v>454.8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100" b="0"/>
                  <a:t>Índice MCS (tabla 256QAM)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/>
                  <a:t>Mbps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40404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Urbano denso</c:v>
                </c:pt>
              </c:strCache>
            </c:strRef>
          </c:tx>
          <c:spPr>
            <a:solidFill>
              <a:srgbClr val="1F4E79"/>
            </a:solidFill>
          </c:spPr>
          <c:cat>
            <c:strRef>
              <c:f>Sheet1!$A$2:$A$6</c:f>
              <c:strCache>
                <c:ptCount val="5"/>
                <c:pt idx="0">
                  <c:v>Año 1</c:v>
                </c:pt>
                <c:pt idx="1">
                  <c:v>Año 2</c:v>
                </c:pt>
                <c:pt idx="2">
                  <c:v>Año 3</c:v>
                </c:pt>
                <c:pt idx="3">
                  <c:v>Año 4</c:v>
                </c:pt>
                <c:pt idx="4">
                  <c:v>Año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37169</c:v>
                </c:pt>
                <c:pt idx="1">
                  <c:v>42479</c:v>
                </c:pt>
                <c:pt idx="2">
                  <c:v>47789</c:v>
                </c:pt>
                <c:pt idx="3">
                  <c:v>50443</c:v>
                </c:pt>
                <c:pt idx="4">
                  <c:v>53098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Urbano</c:v>
                </c:pt>
              </c:strCache>
            </c:strRef>
          </c:tx>
          <c:spPr>
            <a:solidFill>
              <a:srgbClr val="C55A11"/>
            </a:solidFill>
          </c:spPr>
          <c:cat>
            <c:strRef>
              <c:f>Sheet1!$A$2:$A$6</c:f>
              <c:strCache>
                <c:ptCount val="5"/>
                <c:pt idx="0">
                  <c:v>Año 1</c:v>
                </c:pt>
                <c:pt idx="1">
                  <c:v>Año 2</c:v>
                </c:pt>
                <c:pt idx="2">
                  <c:v>Año 3</c:v>
                </c:pt>
                <c:pt idx="3">
                  <c:v>Año 4</c:v>
                </c:pt>
                <c:pt idx="4">
                  <c:v>Año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19654</c:v>
                </c:pt>
                <c:pt idx="1">
                  <c:v>24567</c:v>
                </c:pt>
                <c:pt idx="2">
                  <c:v>27843</c:v>
                </c:pt>
                <c:pt idx="3">
                  <c:v>31118</c:v>
                </c:pt>
                <c:pt idx="4">
                  <c:v>32756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Suburbano</c:v>
                </c:pt>
              </c:strCache>
            </c:strRef>
          </c:tx>
          <c:spPr>
            <a:solidFill>
              <a:srgbClr val="37864F"/>
            </a:solidFill>
          </c:spPr>
          <c:cat>
            <c:strRef>
              <c:f>Sheet1!$A$2:$A$6</c:f>
              <c:strCache>
                <c:ptCount val="5"/>
                <c:pt idx="0">
                  <c:v>Año 1</c:v>
                </c:pt>
                <c:pt idx="1">
                  <c:v>Año 2</c:v>
                </c:pt>
                <c:pt idx="2">
                  <c:v>Año 3</c:v>
                </c:pt>
                <c:pt idx="3">
                  <c:v>Año 4</c:v>
                </c:pt>
                <c:pt idx="4">
                  <c:v>Año 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22795</c:v>
                </c:pt>
                <c:pt idx="1">
                  <c:v>29633</c:v>
                </c:pt>
                <c:pt idx="2">
                  <c:v>34192</c:v>
                </c:pt>
                <c:pt idx="3">
                  <c:v>36471</c:v>
                </c:pt>
                <c:pt idx="4">
                  <c:v>38751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Rural</c:v>
                </c:pt>
              </c:strCache>
            </c:strRef>
          </c:tx>
          <c:spPr>
            <a:solidFill>
              <a:srgbClr val="BF9000"/>
            </a:solidFill>
          </c:spPr>
          <c:cat>
            <c:strRef>
              <c:f>Sheet1!$A$2:$A$6</c:f>
              <c:strCache>
                <c:ptCount val="5"/>
                <c:pt idx="0">
                  <c:v>Año 1</c:v>
                </c:pt>
                <c:pt idx="1">
                  <c:v>Año 2</c:v>
                </c:pt>
                <c:pt idx="2">
                  <c:v>Año 3</c:v>
                </c:pt>
                <c:pt idx="3">
                  <c:v>Año 4</c:v>
                </c:pt>
                <c:pt idx="4">
                  <c:v>Año 5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1647</c:v>
                </c:pt>
                <c:pt idx="1">
                  <c:v>2471</c:v>
                </c:pt>
                <c:pt idx="2">
                  <c:v>3020</c:v>
                </c:pt>
                <c:pt idx="3">
                  <c:v>3294</c:v>
                </c:pt>
                <c:pt idx="4">
                  <c:v>3569</c:v>
                </c:pt>
              </c:numCache>
            </c:numRef>
          </c:val>
        </c:ser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40404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949732-FE11-9C40-B5ED-F5B1C0547D22}" type="datetimeFigureOut">
              <a:rPr lang="es-ES_tradnl" smtClean="0"/>
              <a:t>14/10/26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8793B4-98FD-9645-88BA-E1F02EEEE8A9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1070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Presentación de la herramienta Planificación 5G, una réplica corregida de 5G-RAND (Wong y Chuah, 2023).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Adaptado de la Fig. 2 de Wong y Chuah (2023). La rama superior es la de cobertura; la inferior, la de capacidad.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36B730-42DE-BE9E-8DEB-F149DD2380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91802"/>
            <a:ext cx="9144000" cy="1825001"/>
          </a:xfrm>
        </p:spPr>
        <p:txBody>
          <a:bodyPr anchor="b"/>
          <a:lstStyle>
            <a:lvl1pPr algn="ctr">
              <a:defRPr sz="6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ES_tradn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A9AC2BB-1D57-DD2E-23FA-D0B1BF964A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30C0C3-295F-AA8E-A27C-1C53C5C12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E430495D-B4BB-7C47-9FAC-CB6D52F3E1E1}" type="datetime1">
              <a:rPr lang="es-ES" smtClean="0"/>
              <a:pPr/>
              <a:t>14/10/26</a:t>
            </a:fld>
            <a:endParaRPr lang="es-ES_tradnl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8F1D60-454A-0ADD-C7BF-7B2A69367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_tradnl"/>
              <a:t>2</a:t>
            </a:r>
            <a:endParaRPr lang="es-ES_tradnl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381536-5362-4217-C9E4-8F662EF2B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E73EB90-4993-9E44-9730-B6F29FA47E4D}" type="slidenum">
              <a:rPr lang="es-ES_tradnl" smtClean="0"/>
              <a:pPr/>
              <a:t>‹Nº›</a:t>
            </a:fld>
            <a:endParaRPr lang="es-ES_tradnl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8283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09992D-85BB-D954-A0E9-BD8321C44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960" y="256854"/>
            <a:ext cx="8685944" cy="611901"/>
          </a:xfrm>
        </p:spPr>
        <p:txBody>
          <a:bodyPr/>
          <a:lstStyle>
            <a:lvl1pPr>
              <a:defRPr sz="3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EBCA7B-2CEC-282F-256E-AB3614306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960" y="1168078"/>
            <a:ext cx="11459966" cy="4975867"/>
          </a:xfrm>
        </p:spPr>
        <p:txBody>
          <a:bodyPr>
            <a:normAutofit/>
          </a:bodyPr>
          <a:lstStyle>
            <a:lvl1pPr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ES_tradnl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B6A966-0595-A93B-1051-D13A52A31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A470F208-FA18-824D-B6B2-B8099C58C0CC}" type="datetime1">
              <a:rPr lang="es-ES" smtClean="0"/>
              <a:pPr/>
              <a:t>14/10/26</a:t>
            </a:fld>
            <a:endParaRPr lang="es-ES_tradnl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29E532D-37B8-A81B-47CD-02C71524F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_tradnl"/>
              <a:t>2</a:t>
            </a:r>
            <a:endParaRPr lang="es-ES_tradnl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E9CEE73-4C7D-D1A8-2CB0-35DF170B2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E73EB90-4993-9E44-9730-B6F29FA47E4D}" type="slidenum">
              <a:rPr lang="es-ES_tradnl" smtClean="0"/>
              <a:pPr/>
              <a:t>‹Nº›</a:t>
            </a:fld>
            <a:endParaRPr lang="es-ES_tradnl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9896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5803DC-FA1D-91BF-5D17-D77C435B7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dirty="0"/>
              <a:t>Haga clic para modificar el estilo de título del patrón</a:t>
            </a:r>
            <a:endParaRPr lang="es-ES_tradn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42CB268-ABB1-B6A2-50B9-423FA91D0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E1FA92-E59F-281B-DCC3-A1D2CBFCF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A807B-9633-944E-9390-591A99F39445}" type="datetime1">
              <a:rPr lang="es-ES" smtClean="0"/>
              <a:t>14/10/26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E004FE-819D-1CE9-8E61-DF93BBAC2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/>
              <a:t>2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4D5D15-EAA8-7009-4613-A35C1E3B9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EB90-4993-9E44-9730-B6F29FA47E4D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65263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DD5118-2EDA-2071-6218-FFF44C5E4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7C1A2E-8599-7241-BF18-040A228FD4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94641BA-A853-B95E-AA85-1515FDB95D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DF3B15F-5059-9779-E838-1F0A3E9AD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238A1-7403-714F-8708-865097A1657E}" type="datetime1">
              <a:rPr lang="es-ES" smtClean="0"/>
              <a:t>14/10/26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6B1D9E6-BF9E-1E20-43DE-C4A762673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/>
              <a:t>2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873255-6D59-70F9-369D-76AE41920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EB90-4993-9E44-9730-B6F29FA47E4D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29503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D24C36-C034-5D55-A7BE-A44C6F009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E1FECAA-FEEF-F8C6-5519-28C3767A2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BF529-0F2A-E051-7F98-BEF6996BAD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ES_tradnl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670FFA7-7790-E56E-FB19-570AAA33B1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F3C66D3-2070-4B23-5AF0-4D6502BCAE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F5E3BE9-B7D7-33CE-527F-2E59F08CE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4D7C9-06E4-E94F-8C6E-7C256300DE39}" type="datetime1">
              <a:rPr lang="es-ES" smtClean="0"/>
              <a:t>14/10/26</a:t>
            </a:fld>
            <a:endParaRPr lang="es-ES_tradn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56810AA-9731-238D-F6B0-95F20CB72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/>
              <a:t>2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C96498C-47E5-FB5A-CD12-A5BA6C388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EB90-4993-9E44-9730-B6F29FA47E4D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4224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BD5A84-D3A7-FCC5-ED4A-42003DCCC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309AD6A-1949-24D2-C0DA-809F7E16B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28558-19E0-184F-95ED-43CE3BE973A4}" type="datetime1">
              <a:rPr lang="es-ES" smtClean="0"/>
              <a:t>14/10/26</a:t>
            </a:fld>
            <a:endParaRPr lang="es-ES_tradn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F105230-8CEE-F5CF-A281-504377DED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/>
              <a:t>2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46F4EB1-AD3B-90B6-069C-90811AC88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EB90-4993-9E44-9730-B6F29FA47E4D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63922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F0B27C4-B2AF-1B68-9475-C8346858F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FEA61-0B57-EC46-B29F-69796ACFEB6E}" type="datetime1">
              <a:rPr lang="es-ES" smtClean="0"/>
              <a:t>14/10/26</a:t>
            </a:fld>
            <a:endParaRPr lang="es-ES_tradn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542C6A7-A06B-A9EF-DC11-ECBDAB186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/>
              <a:t>2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586C411-8BF8-5E6F-F8FD-564EA2C8D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EB90-4993-9E44-9730-B6F29FA47E4D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16302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FBF8D4-3806-C564-C6E5-C977B642E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2E4D33-F1A6-9C0A-063A-B67FE18D3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AA362DB-F895-5EAC-F99B-68940449D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BEA58FA-D1CF-9A7C-D032-0876EFA12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B1DFF-A2F6-EE4A-81A6-9CD299C4D837}" type="datetime1">
              <a:rPr lang="es-ES" smtClean="0"/>
              <a:t>14/10/26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1A89AA5-6AF7-8536-5CF2-898F0D6EA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/>
              <a:t>2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C21BDE8-F199-153B-D308-C6861F047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EB90-4993-9E44-9730-B6F29FA47E4D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14049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7CDF6A-3195-AEA5-0479-802FAE2C3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B44E044-A509-04DA-A695-EDE3E253BC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78CA915-0AC9-B176-2CB9-AC01D50F0B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85A9628-1A63-7FB7-2218-CF32DF3DB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955A6-B5FD-484C-9E9B-B8BB5A81DD42}" type="datetime1">
              <a:rPr lang="es-ES" smtClean="0"/>
              <a:t>14/10/26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EB8182-5A17-43B4-A3B2-1728EB731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/>
              <a:t>2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3304DCE-6B46-4FA0-56CC-A59B390BB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EB90-4993-9E44-9730-B6F29FA47E4D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48557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29189A-F969-CDE3-87DA-3FFD1FC22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D878FAC-82BC-9F72-E739-7C004F290F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454362-7409-1A07-7234-9D6ED1040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0BBA3-98F7-F649-8016-9DBA84982EA8}" type="datetime1">
              <a:rPr lang="es-ES" smtClean="0"/>
              <a:t>14/10/26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701EB5-2797-6870-734A-1A94EB72C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/>
              <a:t>2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0A0752-C058-48B9-E182-6E0A25D46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EB90-4993-9E44-9730-B6F29FA47E4D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4902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8F31304-166E-70C0-AEA8-D0103397A5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E2FA579-FD3F-39FB-9562-AD0D04F6A2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BBB391-5BE1-106F-E40F-FFE3C8A21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5D3FE-522C-1A41-A0AC-C1F6DF24E88E}" type="datetime1">
              <a:rPr lang="es-ES" smtClean="0"/>
              <a:t>14/10/26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653781-F13B-65B9-A061-6DBB5E007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/>
              <a:t>2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B77E17-2DAA-6C51-EE57-8FBCB04E5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EB90-4993-9E44-9730-B6F29FA47E4D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060590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2DB727F-60A5-FCFC-6292-F0A03753A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ES_tradn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C39F41-4946-9F1B-87C2-5C6A02594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929895-91C6-F9C7-9A76-2D40C1A383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EDA7BADE-E83F-D94C-9FFD-34D27E1AC27E}" type="datetime1">
              <a:rPr lang="es-ES" smtClean="0"/>
              <a:pPr/>
              <a:t>14/10/26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76BF0B-0681-B149-2542-0E05A7FB5F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_tradnl"/>
              <a:t>2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879A82-0F33-E84F-4135-92DAF33E0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E73EB90-4993-9E44-9730-B6F29FA47E4D}" type="slidenum">
              <a:rPr lang="es-ES_tradnl" smtClean="0"/>
              <a:pPr/>
              <a:t>‹Nº›</a:t>
            </a:fld>
            <a:endParaRPr lang="es-ES_tradnl"/>
          </a:p>
        </p:txBody>
      </p:sp>
      <p:pic>
        <p:nvPicPr>
          <p:cNvPr id="7" name="Imagen 6" descr="Logo principal de la Universidad de Alcalá">
            <a:extLst>
              <a:ext uri="{FF2B5EF4-FFF2-40B4-BE49-F238E27FC236}">
                <a16:creationId xmlns:a16="http://schemas.microsoft.com/office/drawing/2014/main" id="{326818A8-0AB6-A3EA-9FE9-0267BACE66A3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9758591" y="166688"/>
            <a:ext cx="2244550" cy="59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124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>
              <a:lumMod val="90000"/>
              <a:lumOff val="10000"/>
            </a:schemeClr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>
              <a:lumMod val="90000"/>
              <a:lumOff val="10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>
              <a:lumMod val="90000"/>
              <a:lumOff val="10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>
              <a:lumMod val="90000"/>
              <a:lumOff val="10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>
              <a:lumMod val="90000"/>
              <a:lumOff val="10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>
              <a:lumMod val="90000"/>
              <a:lumOff val="10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Comunicaciones Móviles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2800" b="0">
                <a:latin typeface="Calibri"/>
              </a:rPr>
              <a:t>Planificación de redes 5G</a:t>
            </a:r>
          </a:p>
          <a:p>
            <a:pPr marL="0" indent="0">
              <a:spcAft>
                <a:spcPts val="400"/>
              </a:spcAft>
              <a:buNone/>
            </a:pPr>
            <a:r>
              <a:rPr sz="2400" b="0">
                <a:latin typeface="Calibri"/>
              </a:rPr>
              <a:t>Dimensionado de la red de acceso radio 5G NR</a:t>
            </a:r>
          </a:p>
          <a:p>
            <a:pPr marL="0" indent="0">
              <a:spcAft>
                <a:spcPts val="400"/>
              </a:spcAft>
              <a:buNone/>
            </a:pPr>
            <a:r>
              <a:rPr sz="2000" b="0">
                <a:latin typeface="Calibri"/>
              </a:rPr>
              <a:t>José Antonio Portilla Figueras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1000"/>
              </a:spcAft>
              <a:buNone/>
            </a:pPr>
            <a:r>
              <a:rPr sz="2000" b="1">
                <a:latin typeface="Calibri"/>
              </a:rPr>
              <a:t>Planificación de redes 5G: dimensionado de la red de acceso radio</a:t>
            </a:r>
          </a:p>
          <a:p>
            <a:pPr marL="457200" indent="-457200">
              <a:spcAft>
                <a:spcPts val="700"/>
              </a:spcAft>
              <a:buFont typeface="+mj-lt"/>
              <a:buAutoNum type="arabicPeriod"/>
            </a:pPr>
            <a:r>
              <a:rPr sz="1900" b="0">
                <a:latin typeface="Calibri"/>
              </a:rPr>
              <a:t>El problema del dimensionado de la RAN.</a:t>
            </a:r>
          </a:p>
          <a:p>
            <a:pPr marL="457200" indent="-457200">
              <a:spcAft>
                <a:spcPts val="700"/>
              </a:spcAft>
              <a:buFont typeface="+mj-lt"/>
              <a:buAutoNum type="arabicPeriod"/>
            </a:pPr>
            <a:r>
              <a:rPr sz="1900" b="0">
                <a:latin typeface="Calibri"/>
              </a:rPr>
              <a:t>Capa física 5G NR y throughput.</a:t>
            </a:r>
          </a:p>
          <a:p>
            <a:pPr marL="457200" indent="-457200">
              <a:spcAft>
                <a:spcPts val="700"/>
              </a:spcAft>
              <a:buFont typeface="+mj-lt"/>
              <a:buAutoNum type="arabicPeriod"/>
            </a:pPr>
            <a:r>
              <a:rPr sz="1900" b="0">
                <a:latin typeface="Calibri"/>
              </a:rPr>
              <a:t>Balance de enlace y cobertura.</a:t>
            </a:r>
          </a:p>
          <a:p>
            <a:pPr marL="457200" indent="-457200">
              <a:spcAft>
                <a:spcPts val="700"/>
              </a:spcAft>
              <a:buFont typeface="+mj-lt"/>
              <a:buAutoNum type="arabicPeriod"/>
            </a:pPr>
            <a:r>
              <a:rPr sz="1900" b="0">
                <a:latin typeface="Calibri"/>
              </a:rPr>
              <a:t>Capacidad y previsión a cinco años.</a:t>
            </a:r>
          </a:p>
          <a:p>
            <a:pPr marL="457200" indent="-457200">
              <a:spcAft>
                <a:spcPts val="700"/>
              </a:spcAft>
              <a:buFont typeface="+mj-lt"/>
              <a:buAutoNum type="arabicPeriod"/>
            </a:pPr>
            <a:r>
              <a:rPr sz="1900" b="0">
                <a:latin typeface="Calibri"/>
              </a:rPr>
              <a:t>La herramienta web Planificación 5G.</a:t>
            </a:r>
          </a:p>
          <a:p>
            <a:pPr marL="457200" indent="-457200">
              <a:spcAft>
                <a:spcPts val="700"/>
              </a:spcAft>
              <a:buFont typeface="+mj-lt"/>
              <a:buAutoNum type="arabicPeriod"/>
            </a:pPr>
            <a:r>
              <a:rPr sz="1900" b="0">
                <a:latin typeface="Calibri"/>
              </a:rPr>
              <a:t>Resultados de ejemplo y conclusiones.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Planificación de redes 5G</a:t>
            </a:r>
          </a:p>
        </p:txBody>
      </p:sp>
      <p:sp>
        <p:nvSpPr>
          <p:cNvPr id="3" name="Encabezado"/>
          <p:cNvSpPr txBox="1"/>
          <p:nvPr/>
        </p:nvSpPr>
        <p:spPr>
          <a:xfrm>
            <a:off x="366017" y="1050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2200" b="1">
                <a:solidFill>
                  <a:srgbClr val="1C4270"/>
                </a:solidFill>
                <a:latin typeface="Calibri"/>
              </a:rPr>
              <a:t>Dimensionado de la red radio</a:t>
            </a:r>
          </a:p>
        </p:txBody>
      </p:sp>
      <p:sp>
        <p:nvSpPr>
          <p:cNvPr id="4" name="Texto"/>
          <p:cNvSpPr txBox="1"/>
          <p:nvPr/>
        </p:nvSpPr>
        <p:spPr>
          <a:xfrm>
            <a:off x="502920" y="1508760"/>
            <a:ext cx="11155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1700" b="0">
                <a:solidFill>
                  <a:srgbClr val="1C4270"/>
                </a:solidFill>
                <a:latin typeface="Calibri"/>
              </a:rPr>
              <a:t>La planificación de una red celular se divide en tres fases. El dimensionado (pre-planificación) obtiene una primera estimación del número de emplazamientos necesarios para cubrir una zona y atender su tráfico, sin datos de terreno detallados.</a:t>
            </a:r>
          </a:p>
        </p:txBody>
      </p:sp>
      <p:sp>
        <p:nvSpPr>
          <p:cNvPr id="5" name="Fase 1"/>
          <p:cNvSpPr/>
          <p:nvPr/>
        </p:nvSpPr>
        <p:spPr>
          <a:xfrm>
            <a:off x="640080" y="2743200"/>
            <a:ext cx="3291840" cy="1325880"/>
          </a:xfrm>
          <a:prstGeom prst="rect">
            <a:avLst/>
          </a:prstGeom>
          <a:solidFill>
            <a:srgbClr val="D9E2F3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404040"/>
                </a:solidFill>
                <a:latin typeface="Calibri"/>
              </a:rPr>
              <a:t>1. Dimensionado</a:t>
            </a:r>
          </a:p>
          <a:p>
            <a:pPr algn="ctr"/>
            <a:r>
              <a:rPr sz="1400" b="0">
                <a:solidFill>
                  <a:srgbClr val="404040"/>
                </a:solidFill>
                <a:latin typeface="Calibri"/>
              </a:rPr>
              <a:t>Nº aproximado de emplazamientos</a:t>
            </a:r>
          </a:p>
          <a:p>
            <a:pPr algn="ctr"/>
            <a:r>
              <a:rPr sz="1400" b="0">
                <a:solidFill>
                  <a:srgbClr val="404040"/>
                </a:solidFill>
                <a:latin typeface="Calibri"/>
              </a:rPr>
              <a:t>por cobertura y por capacidad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931920" y="3401568"/>
            <a:ext cx="502920" cy="0"/>
          </a:xfrm>
          <a:prstGeom prst="line">
            <a:avLst/>
          </a:prstGeom>
          <a:ln w="15875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ase 2"/>
          <p:cNvSpPr/>
          <p:nvPr/>
        </p:nvSpPr>
        <p:spPr>
          <a:xfrm>
            <a:off x="4434840" y="2743200"/>
            <a:ext cx="3291840" cy="1325880"/>
          </a:xfrm>
          <a:prstGeom prst="rect">
            <a:avLst/>
          </a:prstGeom>
          <a:solidFill>
            <a:srgbClr val="EAF1FB"/>
          </a:solidFill>
          <a:ln w="1270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404040"/>
                </a:solidFill>
                <a:latin typeface="Calibri"/>
              </a:rPr>
              <a:t>2. Planificación detallada</a:t>
            </a:r>
          </a:p>
          <a:p>
            <a:pPr algn="ctr"/>
            <a:r>
              <a:rPr sz="1400" b="0">
                <a:solidFill>
                  <a:srgbClr val="404040"/>
                </a:solidFill>
                <a:latin typeface="Calibri"/>
              </a:rPr>
              <a:t>Ubicación y configuración de cada gNB</a:t>
            </a:r>
          </a:p>
          <a:p>
            <a:pPr algn="ctr"/>
            <a:r>
              <a:rPr sz="1400" b="0">
                <a:solidFill>
                  <a:srgbClr val="404040"/>
                </a:solidFill>
                <a:latin typeface="Calibri"/>
              </a:rPr>
              <a:t>con herramientas y cartografía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26679" y="3401568"/>
            <a:ext cx="502921" cy="0"/>
          </a:xfrm>
          <a:prstGeom prst="line">
            <a:avLst/>
          </a:prstGeom>
          <a:ln w="15875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ase 3"/>
          <p:cNvSpPr/>
          <p:nvPr/>
        </p:nvSpPr>
        <p:spPr>
          <a:xfrm>
            <a:off x="8229600" y="2743200"/>
            <a:ext cx="3291840" cy="1325880"/>
          </a:xfrm>
          <a:prstGeom prst="rect">
            <a:avLst/>
          </a:prstGeom>
          <a:solidFill>
            <a:srgbClr val="EAF1FB"/>
          </a:solidFill>
          <a:ln w="1270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404040"/>
                </a:solidFill>
                <a:latin typeface="Calibri"/>
              </a:rPr>
              <a:t>3. Optimización</a:t>
            </a:r>
          </a:p>
          <a:p>
            <a:pPr algn="ctr"/>
            <a:r>
              <a:rPr sz="1400" b="0">
                <a:solidFill>
                  <a:srgbClr val="404040"/>
                </a:solidFill>
                <a:latin typeface="Calibri"/>
              </a:rPr>
              <a:t>Ajuste de la red desplegada</a:t>
            </a:r>
          </a:p>
          <a:p>
            <a:pPr algn="ctr"/>
            <a:r>
              <a:rPr sz="1400" b="0">
                <a:solidFill>
                  <a:srgbClr val="404040"/>
                </a:solidFill>
                <a:latin typeface="Calibri"/>
              </a:rPr>
              <a:t>con medidas y KPI</a:t>
            </a:r>
          </a:p>
        </p:txBody>
      </p:sp>
      <p:sp>
        <p:nvSpPr>
          <p:cNvPr id="10" name="Texto"/>
          <p:cNvSpPr txBox="1"/>
          <p:nvPr/>
        </p:nvSpPr>
        <p:spPr>
          <a:xfrm>
            <a:off x="502920" y="4389120"/>
            <a:ext cx="111556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700" b="0">
                <a:solidFill>
                  <a:srgbClr val="1C4270"/>
                </a:solidFill>
                <a:latin typeface="Calibri"/>
              </a:rPr>
              <a:t>Emplazamientos por cobertura: superficie a cubrir / superficie de un emplazamiento.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700" b="0">
                <a:solidFill>
                  <a:srgbClr val="1C4270"/>
                </a:solidFill>
                <a:latin typeface="Calibri"/>
              </a:rPr>
              <a:t>Emplazamientos por capacidad: demanda en hora cargada / throughput medio por emplazamiento.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700" b="1">
                <a:solidFill>
                  <a:srgbClr val="1C4270"/>
                </a:solidFill>
                <a:latin typeface="Calibri"/>
              </a:rPr>
              <a:t>Emplazamientos finales = máximo de ambos, para cada zona y cada año.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Planificación de redes 5G</a:t>
            </a:r>
          </a:p>
        </p:txBody>
      </p:sp>
      <p:sp>
        <p:nvSpPr>
          <p:cNvPr id="3" name="Encabezado"/>
          <p:cNvSpPr txBox="1"/>
          <p:nvPr/>
        </p:nvSpPr>
        <p:spPr>
          <a:xfrm>
            <a:off x="366017" y="1050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2200" b="1">
                <a:solidFill>
                  <a:srgbClr val="1C4270"/>
                </a:solidFill>
                <a:latin typeface="Calibri"/>
              </a:rPr>
              <a:t>El método 5G-RAND</a:t>
            </a:r>
          </a:p>
        </p:txBody>
      </p:sp>
      <p:sp>
        <p:nvSpPr>
          <p:cNvPr id="4" name="Cobertura 0"/>
          <p:cNvSpPr/>
          <p:nvPr/>
        </p:nvSpPr>
        <p:spPr>
          <a:xfrm>
            <a:off x="502920" y="1783080"/>
            <a:ext cx="1828800" cy="868680"/>
          </a:xfrm>
          <a:prstGeom prst="rect">
            <a:avLst/>
          </a:prstGeom>
          <a:solidFill>
            <a:srgbClr val="D9E2F3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404040"/>
                </a:solidFill>
                <a:latin typeface="Calibri"/>
              </a:rPr>
              <a:t>Equipos, pérdidas</a:t>
            </a:r>
          </a:p>
          <a:p>
            <a:pPr algn="ctr"/>
            <a:r>
              <a:rPr sz="1300" b="0">
                <a:solidFill>
                  <a:srgbClr val="404040"/>
                </a:solidFill>
                <a:latin typeface="Calibri"/>
              </a:rPr>
              <a:t>y zona de servicio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331720" y="2217420"/>
            <a:ext cx="411480" cy="0"/>
          </a:xfrm>
          <a:prstGeom prst="line">
            <a:avLst/>
          </a:prstGeom>
          <a:ln w="15875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obertura 1"/>
          <p:cNvSpPr/>
          <p:nvPr/>
        </p:nvSpPr>
        <p:spPr>
          <a:xfrm>
            <a:off x="2743200" y="1783080"/>
            <a:ext cx="1828800" cy="868680"/>
          </a:xfrm>
          <a:prstGeom prst="rect">
            <a:avLst/>
          </a:prstGeom>
          <a:solidFill>
            <a:srgbClr val="D9E2F3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404040"/>
                </a:solidFill>
                <a:latin typeface="Calibri"/>
              </a:rPr>
              <a:t>Balance de enlace</a:t>
            </a:r>
          </a:p>
          <a:p>
            <a:pPr algn="ctr"/>
            <a:r>
              <a:rPr sz="1300" b="0">
                <a:solidFill>
                  <a:srgbClr val="404040"/>
                </a:solidFill>
                <a:latin typeface="Calibri"/>
              </a:rPr>
              <a:t>UL y DL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2217420"/>
            <a:ext cx="411480" cy="0"/>
          </a:xfrm>
          <a:prstGeom prst="line">
            <a:avLst/>
          </a:prstGeom>
          <a:ln w="15875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bertura 2"/>
          <p:cNvSpPr/>
          <p:nvPr/>
        </p:nvSpPr>
        <p:spPr>
          <a:xfrm>
            <a:off x="4983480" y="1783080"/>
            <a:ext cx="1828800" cy="868680"/>
          </a:xfrm>
          <a:prstGeom prst="rect">
            <a:avLst/>
          </a:prstGeom>
          <a:solidFill>
            <a:srgbClr val="D9E2F3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404040"/>
                </a:solidFill>
                <a:latin typeface="Calibri"/>
              </a:rPr>
              <a:t>MAPL</a:t>
            </a:r>
          </a:p>
          <a:p>
            <a:pPr algn="ctr"/>
            <a:r>
              <a:rPr sz="1300" b="0">
                <a:solidFill>
                  <a:srgbClr val="404040"/>
                </a:solidFill>
                <a:latin typeface="Calibri"/>
              </a:rPr>
              <a:t>por MCS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12280" y="2217420"/>
            <a:ext cx="411480" cy="0"/>
          </a:xfrm>
          <a:prstGeom prst="line">
            <a:avLst/>
          </a:prstGeom>
          <a:ln w="15875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bertura 3"/>
          <p:cNvSpPr/>
          <p:nvPr/>
        </p:nvSpPr>
        <p:spPr>
          <a:xfrm>
            <a:off x="7223760" y="1783080"/>
            <a:ext cx="1828800" cy="868680"/>
          </a:xfrm>
          <a:prstGeom prst="rect">
            <a:avLst/>
          </a:prstGeom>
          <a:solidFill>
            <a:srgbClr val="D9E2F3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404040"/>
                </a:solidFill>
                <a:latin typeface="Calibri"/>
              </a:rPr>
              <a:t>Radio de celda</a:t>
            </a:r>
          </a:p>
          <a:p>
            <a:pPr algn="ctr"/>
            <a:r>
              <a:rPr sz="1300" b="0">
                <a:solidFill>
                  <a:srgbClr val="404040"/>
                </a:solidFill>
                <a:latin typeface="Calibri"/>
              </a:rPr>
              <a:t>(TR 38.901)</a:t>
            </a:r>
          </a:p>
        </p:txBody>
      </p:sp>
      <p:sp>
        <p:nvSpPr>
          <p:cNvPr id="11" name="Capacidad 0"/>
          <p:cNvSpPr/>
          <p:nvPr/>
        </p:nvSpPr>
        <p:spPr>
          <a:xfrm>
            <a:off x="502920" y="3886200"/>
            <a:ext cx="1828800" cy="868680"/>
          </a:xfrm>
          <a:prstGeom prst="rect">
            <a:avLst/>
          </a:prstGeom>
          <a:solidFill>
            <a:srgbClr val="EEF6E8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404040"/>
                </a:solidFill>
                <a:latin typeface="Calibri"/>
              </a:rPr>
              <a:t>Capa física</a:t>
            </a:r>
          </a:p>
          <a:p>
            <a:pPr algn="ctr"/>
            <a:r>
              <a:rPr sz="1300" b="0">
                <a:solidFill>
                  <a:srgbClr val="404040"/>
                </a:solidFill>
                <a:latin typeface="Calibri"/>
              </a:rPr>
              <a:t>PRB · MCS · TBS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31720" y="4320540"/>
            <a:ext cx="411480" cy="0"/>
          </a:xfrm>
          <a:prstGeom prst="line">
            <a:avLst/>
          </a:prstGeom>
          <a:ln w="15875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pacidad 1"/>
          <p:cNvSpPr/>
          <p:nvPr/>
        </p:nvSpPr>
        <p:spPr>
          <a:xfrm>
            <a:off x="2743200" y="3886200"/>
            <a:ext cx="1828800" cy="868680"/>
          </a:xfrm>
          <a:prstGeom prst="rect">
            <a:avLst/>
          </a:prstGeom>
          <a:solidFill>
            <a:srgbClr val="EEF6E8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404040"/>
                </a:solidFill>
                <a:latin typeface="Calibri"/>
              </a:rPr>
              <a:t>Throughput</a:t>
            </a:r>
          </a:p>
          <a:p>
            <a:pPr algn="ctr"/>
            <a:r>
              <a:rPr sz="1300" b="0">
                <a:solidFill>
                  <a:srgbClr val="404040"/>
                </a:solidFill>
                <a:latin typeface="Calibri"/>
              </a:rPr>
              <a:t>por MCS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4320540"/>
            <a:ext cx="411480" cy="0"/>
          </a:xfrm>
          <a:prstGeom prst="line">
            <a:avLst/>
          </a:prstGeom>
          <a:ln w="15875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apacidad 2"/>
          <p:cNvSpPr/>
          <p:nvPr/>
        </p:nvSpPr>
        <p:spPr>
          <a:xfrm>
            <a:off x="4983480" y="3886200"/>
            <a:ext cx="1828800" cy="868680"/>
          </a:xfrm>
          <a:prstGeom prst="rect">
            <a:avLst/>
          </a:prstGeom>
          <a:solidFill>
            <a:srgbClr val="EEF6E8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404040"/>
                </a:solidFill>
                <a:latin typeface="Calibri"/>
              </a:rPr>
              <a:t>Throughput medio</a:t>
            </a:r>
          </a:p>
          <a:p>
            <a:pPr algn="ctr"/>
            <a:r>
              <a:rPr sz="1300" b="0">
                <a:solidFill>
                  <a:srgbClr val="404040"/>
                </a:solidFill>
                <a:latin typeface="Calibri"/>
              </a:rPr>
              <a:t>por emplazamiento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12280" y="4320540"/>
            <a:ext cx="411480" cy="0"/>
          </a:xfrm>
          <a:prstGeom prst="line">
            <a:avLst/>
          </a:prstGeom>
          <a:ln w="15875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apacidad 3"/>
          <p:cNvSpPr/>
          <p:nvPr/>
        </p:nvSpPr>
        <p:spPr>
          <a:xfrm>
            <a:off x="7223760" y="3886200"/>
            <a:ext cx="1828800" cy="868680"/>
          </a:xfrm>
          <a:prstGeom prst="rect">
            <a:avLst/>
          </a:prstGeom>
          <a:solidFill>
            <a:srgbClr val="D9E2F3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404040"/>
                </a:solidFill>
                <a:latin typeface="Calibri"/>
              </a:rPr>
              <a:t>Emplazamientos</a:t>
            </a:r>
          </a:p>
          <a:p>
            <a:pPr algn="ctr"/>
            <a:r>
              <a:rPr sz="1300" b="0">
                <a:solidFill>
                  <a:srgbClr val="404040"/>
                </a:solidFill>
                <a:latin typeface="Calibri"/>
              </a:rPr>
              <a:t>por capacidad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1417320" y="2651760"/>
            <a:ext cx="0" cy="1234440"/>
          </a:xfrm>
          <a:prstGeom prst="line">
            <a:avLst/>
          </a:prstGeom>
          <a:ln w="15875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6172200" y="2651760"/>
            <a:ext cx="1965960" cy="1234440"/>
          </a:xfrm>
          <a:prstGeom prst="line">
            <a:avLst/>
          </a:prstGeom>
          <a:ln w="15875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itios cobertura"/>
          <p:cNvSpPr/>
          <p:nvPr/>
        </p:nvSpPr>
        <p:spPr>
          <a:xfrm>
            <a:off x="9464040" y="1783080"/>
            <a:ext cx="2194560" cy="868680"/>
          </a:xfrm>
          <a:prstGeom prst="rect">
            <a:avLst/>
          </a:prstGeom>
          <a:solidFill>
            <a:srgbClr val="D9E2F3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404040"/>
                </a:solidFill>
                <a:latin typeface="Calibri"/>
              </a:rPr>
              <a:t>Emplazamientos</a:t>
            </a:r>
          </a:p>
          <a:p>
            <a:pPr algn="ctr"/>
            <a:r>
              <a:rPr sz="1300" b="0">
                <a:solidFill>
                  <a:srgbClr val="404040"/>
                </a:solidFill>
                <a:latin typeface="Calibri"/>
              </a:rPr>
              <a:t>por cobertura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052560" y="2217420"/>
            <a:ext cx="411480" cy="0"/>
          </a:xfrm>
          <a:prstGeom prst="line">
            <a:avLst/>
          </a:prstGeom>
          <a:ln w="15875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Mercado"/>
          <p:cNvSpPr/>
          <p:nvPr/>
        </p:nvSpPr>
        <p:spPr>
          <a:xfrm>
            <a:off x="7223760" y="5166360"/>
            <a:ext cx="1828800" cy="731520"/>
          </a:xfrm>
          <a:prstGeom prst="rect">
            <a:avLst/>
          </a:prstGeom>
          <a:solidFill>
            <a:srgbClr val="FCE4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404040"/>
                </a:solidFill>
                <a:latin typeface="Calibri"/>
              </a:rPr>
              <a:t>Mercado y</a:t>
            </a:r>
          </a:p>
          <a:p>
            <a:pPr algn="ctr"/>
            <a:r>
              <a:rPr sz="1300" b="0">
                <a:solidFill>
                  <a:srgbClr val="404040"/>
                </a:solidFill>
                <a:latin typeface="Calibri"/>
              </a:rPr>
              <a:t>demanda DL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8138160" y="4754880"/>
            <a:ext cx="0" cy="411480"/>
          </a:xfrm>
          <a:prstGeom prst="line">
            <a:avLst/>
          </a:prstGeom>
          <a:ln w="15875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inal"/>
          <p:cNvSpPr/>
          <p:nvPr/>
        </p:nvSpPr>
        <p:spPr>
          <a:xfrm>
            <a:off x="9464040" y="3886200"/>
            <a:ext cx="2194560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Máximo →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emplazamientos finales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561320" y="2651760"/>
            <a:ext cx="0" cy="1234440"/>
          </a:xfrm>
          <a:prstGeom prst="line">
            <a:avLst/>
          </a:prstGeom>
          <a:ln w="15875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052560" y="4320540"/>
            <a:ext cx="411480" cy="0"/>
          </a:xfrm>
          <a:prstGeom prst="line">
            <a:avLst/>
          </a:prstGeom>
          <a:ln w="15875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o"/>
          <p:cNvSpPr txBox="1"/>
          <p:nvPr/>
        </p:nvSpPr>
        <p:spPr>
          <a:xfrm>
            <a:off x="502920" y="5074920"/>
            <a:ext cx="6400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1400" b="0">
                <a:solidFill>
                  <a:srgbClr val="595959"/>
                </a:solidFill>
                <a:latin typeface="Calibri"/>
              </a:rPr>
              <a:t>Las seis MCS del enlace ascendente fijan los radios; para cada uno se elige la MCS descendente de radio más próximo, de modo que UL y DL tengan alcances similares (comunicación dúplex equilibrada).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Planificación de redes 5G</a:t>
            </a:r>
          </a:p>
        </p:txBody>
      </p:sp>
      <p:sp>
        <p:nvSpPr>
          <p:cNvPr id="3" name="Encabezado"/>
          <p:cNvSpPr txBox="1"/>
          <p:nvPr/>
        </p:nvSpPr>
        <p:spPr>
          <a:xfrm>
            <a:off x="366017" y="1050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2200" b="1">
                <a:solidFill>
                  <a:srgbClr val="1C4270"/>
                </a:solidFill>
                <a:latin typeface="Calibri"/>
              </a:rPr>
              <a:t>Capa física 5G NR: numerología y recursos</a:t>
            </a:r>
          </a:p>
        </p:txBody>
      </p:sp>
      <p:graphicFrame>
        <p:nvGraphicFramePr>
          <p:cNvPr id="4" name="Tabla"/>
          <p:cNvGraphicFramePr>
            <a:graphicFrameLocks noGrp="1"/>
          </p:cNvGraphicFramePr>
          <p:nvPr/>
        </p:nvGraphicFramePr>
        <p:xfrm>
          <a:off x="502920" y="1600200"/>
          <a:ext cx="6035040" cy="2304288"/>
        </p:xfrm>
        <a:graphic>
          <a:graphicData uri="http://schemas.openxmlformats.org/drawingml/2006/table">
            <a:tbl>
              <a:tblPr firstRow="1" bandRow="0"/>
              <a:tblGrid>
                <a:gridCol w="548640"/>
                <a:gridCol w="914400"/>
                <a:gridCol w="1051560"/>
                <a:gridCol w="1005840"/>
                <a:gridCol w="1508760"/>
                <a:gridCol w="100584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μ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SCS (kHz)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Slots / 1 ms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Slots / s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Símbolo + CP (µs)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Rango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71,35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FR1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2.000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35,68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FR1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4.000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17,84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FR1 / FR2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8.000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8,92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FR2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240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16.000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4,46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FR2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o"/>
          <p:cNvSpPr txBox="1"/>
          <p:nvPr/>
        </p:nvSpPr>
        <p:spPr>
          <a:xfrm>
            <a:off x="6949440" y="1554480"/>
            <a:ext cx="47548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700" b="0">
                <a:solidFill>
                  <a:srgbClr val="1C4270"/>
                </a:solidFill>
                <a:latin typeface="Calibri"/>
              </a:rPr>
              <a:t>Un PRB son 12 subportadoras durante un slot de 14 símbolos (12 con CP extendido).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700" b="0">
                <a:solidFill>
                  <a:srgbClr val="1C4270"/>
                </a:solidFill>
                <a:latin typeface="Calibri"/>
              </a:rPr>
              <a:t>El número de PRB depende del ancho de banda y de la SCS (TS 38.101-1 y 38.101-2):</a:t>
            </a:r>
          </a:p>
          <a:p>
            <a:pPr marL="0" indent="0">
              <a:spcAft>
                <a:spcPts val="600"/>
              </a:spcAft>
              <a:buNone/>
            </a:pPr>
            <a:r>
              <a:rPr sz="1500" b="0">
                <a:solidFill>
                  <a:srgbClr val="595959"/>
                </a:solidFill>
                <a:latin typeface="Calibri"/>
              </a:rPr>
              <a:t>100 MHz a 30 kHz → 273 PRB (FR1)</a:t>
            </a:r>
          </a:p>
          <a:p>
            <a:pPr marL="0" indent="0">
              <a:spcAft>
                <a:spcPts val="600"/>
              </a:spcAft>
              <a:buNone/>
            </a:pPr>
            <a:r>
              <a:rPr sz="1500" b="0">
                <a:solidFill>
                  <a:srgbClr val="595959"/>
                </a:solidFill>
                <a:latin typeface="Calibri"/>
              </a:rPr>
              <a:t>50 MHz a 60 kHz → 65 PRB (FR1) / 66 PRB (FR2)</a:t>
            </a:r>
          </a:p>
          <a:p>
            <a:pPr marL="0" indent="0">
              <a:spcAft>
                <a:spcPts val="600"/>
              </a:spcAft>
              <a:buNone/>
            </a:pPr>
            <a:r>
              <a:rPr sz="1500" b="0">
                <a:solidFill>
                  <a:srgbClr val="595959"/>
                </a:solidFill>
                <a:latin typeface="Calibri"/>
              </a:rPr>
              <a:t>400 MHz a 120 kHz → 264 PRB (FR2)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700" b="0">
                <a:solidFill>
                  <a:srgbClr val="1C4270"/>
                </a:solidFill>
                <a:latin typeface="Calibri"/>
              </a:rPr>
              <a:t>En TDD, cada enlace dispone de una fracción del tiempo (p. ej. 75 % DL / 25 % UL).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700" b="0">
                <a:solidFill>
                  <a:srgbClr val="1C4270"/>
                </a:solidFill>
                <a:latin typeface="Calibri"/>
              </a:rPr>
              <a:t>FR1: 0,41–7,125 GHz · FR2: 24,25–52,6 GHz.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Planificación de redes 5G</a:t>
            </a:r>
          </a:p>
        </p:txBody>
      </p:sp>
      <p:sp>
        <p:nvSpPr>
          <p:cNvPr id="3" name="Encabezado"/>
          <p:cNvSpPr txBox="1"/>
          <p:nvPr/>
        </p:nvSpPr>
        <p:spPr>
          <a:xfrm>
            <a:off x="366017" y="1050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2200" b="1">
                <a:solidFill>
                  <a:srgbClr val="1C4270"/>
                </a:solidFill>
                <a:latin typeface="Calibri"/>
              </a:rPr>
              <a:t>Tamaño de bloque de transporte y throughput (TS 38.214 §5.1.3.2)</a:t>
            </a:r>
          </a:p>
        </p:txBody>
      </p:sp>
      <p:sp>
        <p:nvSpPr>
          <p:cNvPr id="4" name="Paso 1"/>
          <p:cNvSpPr/>
          <p:nvPr/>
        </p:nvSpPr>
        <p:spPr>
          <a:xfrm>
            <a:off x="548640" y="1600200"/>
            <a:ext cx="548640" cy="73152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Fórmula 1"/>
          <p:cNvSpPr/>
          <p:nvPr/>
        </p:nvSpPr>
        <p:spPr>
          <a:xfrm>
            <a:off x="1280160" y="1600200"/>
            <a:ext cx="4206240" cy="731520"/>
          </a:xfrm>
          <a:prstGeom prst="rect">
            <a:avLst/>
          </a:prstGeom>
          <a:solidFill>
            <a:srgbClr val="D9E2F3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404040"/>
                </a:solidFill>
                <a:latin typeface="Calibri"/>
              </a:rPr>
              <a:t>N'RE = 12·Nsímb − NDMRS − Noh</a:t>
            </a:r>
          </a:p>
        </p:txBody>
      </p:sp>
      <p:sp>
        <p:nvSpPr>
          <p:cNvPr id="6" name="Nota 1"/>
          <p:cNvSpPr txBox="1"/>
          <p:nvPr/>
        </p:nvSpPr>
        <p:spPr>
          <a:xfrm>
            <a:off x="5623560" y="164592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1300" b="0">
                <a:solidFill>
                  <a:srgbClr val="595959"/>
                </a:solidFill>
                <a:latin typeface="Calibri"/>
              </a:rPr>
              <a:t>RE útiles por PRB y slot</a:t>
            </a:r>
          </a:p>
        </p:txBody>
      </p:sp>
      <p:sp>
        <p:nvSpPr>
          <p:cNvPr id="7" name="Paso 2"/>
          <p:cNvSpPr/>
          <p:nvPr/>
        </p:nvSpPr>
        <p:spPr>
          <a:xfrm>
            <a:off x="548640" y="2560320"/>
            <a:ext cx="548640" cy="73152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Fórmula 2"/>
          <p:cNvSpPr/>
          <p:nvPr/>
        </p:nvSpPr>
        <p:spPr>
          <a:xfrm>
            <a:off x="1280160" y="2560320"/>
            <a:ext cx="4206240" cy="731520"/>
          </a:xfrm>
          <a:prstGeom prst="rect">
            <a:avLst/>
          </a:prstGeom>
          <a:solidFill>
            <a:srgbClr val="D9E2F3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404040"/>
                </a:solidFill>
                <a:latin typeface="Calibri"/>
              </a:rPr>
              <a:t>NRE = min(156, N'RE) · NPRB</a:t>
            </a:r>
          </a:p>
        </p:txBody>
      </p:sp>
      <p:sp>
        <p:nvSpPr>
          <p:cNvPr id="9" name="Nota 2"/>
          <p:cNvSpPr txBox="1"/>
          <p:nvPr/>
        </p:nvSpPr>
        <p:spPr>
          <a:xfrm>
            <a:off x="5623560" y="2606039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1300" b="0">
                <a:solidFill>
                  <a:srgbClr val="595959"/>
                </a:solidFill>
                <a:latin typeface="Calibri"/>
              </a:rPr>
              <a:t>RE de datos en la portadora</a:t>
            </a:r>
          </a:p>
        </p:txBody>
      </p:sp>
      <p:sp>
        <p:nvSpPr>
          <p:cNvPr id="10" name="Paso 3"/>
          <p:cNvSpPr/>
          <p:nvPr/>
        </p:nvSpPr>
        <p:spPr>
          <a:xfrm>
            <a:off x="548640" y="3520440"/>
            <a:ext cx="548640" cy="73152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Fórmula 3"/>
          <p:cNvSpPr/>
          <p:nvPr/>
        </p:nvSpPr>
        <p:spPr>
          <a:xfrm>
            <a:off x="1280160" y="3520440"/>
            <a:ext cx="4206240" cy="731520"/>
          </a:xfrm>
          <a:prstGeom prst="rect">
            <a:avLst/>
          </a:prstGeom>
          <a:solidFill>
            <a:srgbClr val="D9E2F3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404040"/>
                </a:solidFill>
                <a:latin typeface="Calibri"/>
              </a:rPr>
              <a:t>Ninfo = NRE · R · Qm · v</a:t>
            </a:r>
          </a:p>
        </p:txBody>
      </p:sp>
      <p:sp>
        <p:nvSpPr>
          <p:cNvPr id="12" name="Nota 3"/>
          <p:cNvSpPr txBox="1"/>
          <p:nvPr/>
        </p:nvSpPr>
        <p:spPr>
          <a:xfrm>
            <a:off x="5623560" y="356616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1300" b="0">
                <a:solidFill>
                  <a:srgbClr val="595959"/>
                </a:solidFill>
                <a:latin typeface="Calibri"/>
              </a:rPr>
              <a:t>bits de información (v = capas)</a:t>
            </a:r>
          </a:p>
        </p:txBody>
      </p:sp>
      <p:sp>
        <p:nvSpPr>
          <p:cNvPr id="13" name="Paso 4"/>
          <p:cNvSpPr/>
          <p:nvPr/>
        </p:nvSpPr>
        <p:spPr>
          <a:xfrm>
            <a:off x="548640" y="4480560"/>
            <a:ext cx="548640" cy="73152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Fórmula 4"/>
          <p:cNvSpPr/>
          <p:nvPr/>
        </p:nvSpPr>
        <p:spPr>
          <a:xfrm>
            <a:off x="1280160" y="4480560"/>
            <a:ext cx="4206240" cy="731520"/>
          </a:xfrm>
          <a:prstGeom prst="rect">
            <a:avLst/>
          </a:prstGeom>
          <a:solidFill>
            <a:srgbClr val="D9E2F3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404040"/>
                </a:solidFill>
                <a:latin typeface="Calibri"/>
              </a:rPr>
              <a:t>Cuantificación de Ninfo → TBS</a:t>
            </a:r>
          </a:p>
        </p:txBody>
      </p:sp>
      <p:sp>
        <p:nvSpPr>
          <p:cNvPr id="15" name="Nota 4"/>
          <p:cNvSpPr txBox="1"/>
          <p:nvPr/>
        </p:nvSpPr>
        <p:spPr>
          <a:xfrm>
            <a:off x="5623560" y="452628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1300" b="0">
                <a:solidFill>
                  <a:srgbClr val="595959"/>
                </a:solidFill>
                <a:latin typeface="Calibri"/>
              </a:rPr>
              <a:t>tabla si Ninfo ≤ 3824; fórmula con
segmentación en bloques si es mayor</a:t>
            </a:r>
          </a:p>
        </p:txBody>
      </p:sp>
      <p:sp>
        <p:nvSpPr>
          <p:cNvPr id="16" name="Throughput"/>
          <p:cNvSpPr/>
          <p:nvPr/>
        </p:nvSpPr>
        <p:spPr>
          <a:xfrm>
            <a:off x="8229600" y="1600200"/>
            <a:ext cx="3474720" cy="1371600"/>
          </a:xfrm>
          <a:prstGeom prst="rect">
            <a:avLst/>
          </a:prstGeom>
          <a:solidFill>
            <a:srgbClr val="FCE4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404040"/>
                </a:solidFill>
                <a:latin typeface="Calibri"/>
              </a:rPr>
              <a:t>Throughput (Mbps)</a:t>
            </a:r>
          </a:p>
          <a:p>
            <a:pPr algn="ctr"/>
            <a:r>
              <a:rPr sz="1400" b="0">
                <a:solidFill>
                  <a:srgbClr val="404040"/>
                </a:solidFill>
                <a:latin typeface="Calibri"/>
              </a:rPr>
              <a:t>TBS · slots/s · fracción de tiempo / 10⁶</a:t>
            </a:r>
          </a:p>
          <a:p>
            <a:pPr algn="ctr"/>
            <a:r>
              <a:rPr sz="1400" b="0">
                <a:solidFill>
                  <a:srgbClr val="404040"/>
                </a:solidFill>
                <a:latin typeface="Calibri"/>
              </a:rPr>
              <a:t>(más de 4 capas: dos codewords)</a:t>
            </a:r>
          </a:p>
        </p:txBody>
      </p:sp>
      <p:sp>
        <p:nvSpPr>
          <p:cNvPr id="17" name="Texto"/>
          <p:cNvSpPr txBox="1"/>
          <p:nvPr/>
        </p:nvSpPr>
        <p:spPr>
          <a:xfrm>
            <a:off x="8229600" y="3200400"/>
            <a:ext cx="34747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1600" b="1">
                <a:solidFill>
                  <a:srgbClr val="1C4270"/>
                </a:solidFill>
                <a:latin typeface="Calibri"/>
              </a:rPr>
              <a:t>Ejemplo de pico</a:t>
            </a:r>
          </a:p>
          <a:p>
            <a:pPr marL="0" indent="0">
              <a:spcAft>
                <a:spcPts val="600"/>
              </a:spcAft>
              <a:buNone/>
            </a:pPr>
            <a:r>
              <a:rPr sz="1500" b="0">
                <a:solidFill>
                  <a:srgbClr val="1C4270"/>
                </a:solidFill>
                <a:latin typeface="Calibri"/>
              </a:rPr>
              <a:t>100 MHz · 30 kHz · 273 PRB</a:t>
            </a:r>
          </a:p>
          <a:p>
            <a:pPr marL="0" indent="0">
              <a:spcAft>
                <a:spcPts val="600"/>
              </a:spcAft>
              <a:buNone/>
            </a:pPr>
            <a:r>
              <a:rPr sz="1500" b="0">
                <a:solidFill>
                  <a:srgbClr val="1C4270"/>
                </a:solidFill>
                <a:latin typeface="Calibri"/>
              </a:rPr>
              <a:t>MCS 27 (256QAM, R = 948/1024) · 4 capas</a:t>
            </a:r>
          </a:p>
          <a:p>
            <a:pPr marL="0" indent="0">
              <a:spcAft>
                <a:spcPts val="600"/>
              </a:spcAft>
              <a:buNone/>
            </a:pPr>
            <a:r>
              <a:rPr sz="1500" b="0">
                <a:solidFill>
                  <a:srgbClr val="1C4270"/>
                </a:solidFill>
                <a:latin typeface="Calibri"/>
              </a:rPr>
              <a:t>TBS = 1 277 992 bits por slot</a:t>
            </a:r>
          </a:p>
          <a:p>
            <a:pPr marL="0" indent="0">
              <a:spcAft>
                <a:spcPts val="600"/>
              </a:spcAft>
              <a:buNone/>
            </a:pPr>
            <a:r>
              <a:rPr sz="1500" b="1">
                <a:solidFill>
                  <a:srgbClr val="1C4270"/>
                </a:solidFill>
                <a:latin typeface="Calibri"/>
              </a:rPr>
              <a:t>≈ 2556 Mbps en FDD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Planificación de redes 5G</a:t>
            </a:r>
          </a:p>
        </p:txBody>
      </p:sp>
      <p:sp>
        <p:nvSpPr>
          <p:cNvPr id="3" name="Encabezado"/>
          <p:cNvSpPr txBox="1"/>
          <p:nvPr/>
        </p:nvSpPr>
        <p:spPr>
          <a:xfrm>
            <a:off x="366017" y="1050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2200" b="1">
                <a:solidFill>
                  <a:srgbClr val="1C4270"/>
                </a:solidFill>
                <a:latin typeface="Calibri"/>
              </a:rPr>
              <a:t>SNR requerido, sensibilidad y throughput por MCS</a:t>
            </a:r>
          </a:p>
        </p:txBody>
      </p:sp>
      <p:sp>
        <p:nvSpPr>
          <p:cNvPr id="4" name="Texto"/>
          <p:cNvSpPr txBox="1"/>
          <p:nvPr/>
        </p:nvSpPr>
        <p:spPr>
          <a:xfrm>
            <a:off x="502920" y="1554480"/>
            <a:ext cx="49377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1700" b="1">
                <a:solidFill>
                  <a:srgbClr val="1C4270"/>
                </a:solidFill>
                <a:latin typeface="Calibri"/>
              </a:rPr>
              <a:t>SNR requerido (Shannon atenuado):</a:t>
            </a:r>
          </a:p>
          <a:p>
            <a:pPr marL="0" indent="0">
              <a:spcAft>
                <a:spcPts val="600"/>
              </a:spcAft>
              <a:buNone/>
            </a:pPr>
            <a:r>
              <a:rPr sz="1700" b="0">
                <a:solidFill>
                  <a:srgbClr val="595959"/>
                </a:solidFill>
                <a:latin typeface="Calibri"/>
              </a:rPr>
              <a:t>Qm·R = α · log2(1 + SNR),  α = 0,75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500" b="0">
                <a:solidFill>
                  <a:srgbClr val="1C4270"/>
                </a:solidFill>
                <a:latin typeface="Calibri"/>
              </a:rPr>
              <a:t>Margen de interferencia según la modulación: 2,5 / 3 / 4 / 5,5 dB (QPSK / 16 / 64 / 256QAM).</a:t>
            </a:r>
          </a:p>
          <a:p>
            <a:pPr marL="0" indent="0">
              <a:spcAft>
                <a:spcPts val="600"/>
              </a:spcAft>
              <a:buNone/>
            </a:pPr>
            <a:r>
              <a:rPr sz="1700" b="1">
                <a:solidFill>
                  <a:srgbClr val="1C4270"/>
                </a:solidFill>
                <a:latin typeface="Calibri"/>
              </a:rPr>
              <a:t>Sensibilidad del receptor:</a:t>
            </a:r>
          </a:p>
          <a:p>
            <a:pPr marL="0" indent="0">
              <a:spcAft>
                <a:spcPts val="600"/>
              </a:spcAft>
              <a:buNone/>
            </a:pPr>
            <a:r>
              <a:rPr sz="1700" b="0">
                <a:solidFill>
                  <a:srgbClr val="595959"/>
                </a:solidFill>
                <a:latin typeface="Calibri"/>
              </a:rPr>
              <a:t>S = −174 + 10·log10(B_ocupado) + NF + SINR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500" b="0">
                <a:solidFill>
                  <a:srgbClr val="1C4270"/>
                </a:solidFill>
                <a:latin typeface="Calibri"/>
              </a:rPr>
              <a:t>B_ocupado = NPRB · 12 · SCS (no el ancho de canal).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500" b="0">
                <a:solidFill>
                  <a:srgbClr val="1C4270"/>
                </a:solidFill>
                <a:latin typeface="Calibri"/>
              </a:rPr>
              <a:t>NF: 9 dB en el UE (DL) y 5 dB en el gNB (UL).</a:t>
            </a:r>
          </a:p>
        </p:txBody>
      </p:sp>
      <p:graphicFrame>
        <p:nvGraphicFramePr>
          <p:cNvPr id="5" name="Gráfico throughput por MCS"/>
          <p:cNvGraphicFramePr>
            <a:graphicFrameLocks noGrp="1"/>
          </p:cNvGraphicFramePr>
          <p:nvPr/>
        </p:nvGraphicFramePr>
        <p:xfrm>
          <a:off x="5760720" y="1463040"/>
          <a:ext cx="59436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Planificación de redes 5G</a:t>
            </a:r>
          </a:p>
        </p:txBody>
      </p:sp>
      <p:sp>
        <p:nvSpPr>
          <p:cNvPr id="3" name="Encabezado"/>
          <p:cNvSpPr txBox="1"/>
          <p:nvPr/>
        </p:nvSpPr>
        <p:spPr>
          <a:xfrm>
            <a:off x="366017" y="1050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2200" b="1">
                <a:solidFill>
                  <a:srgbClr val="1C4270"/>
                </a:solidFill>
                <a:latin typeface="Calibri"/>
              </a:rPr>
              <a:t>Balance de enlace: pérdida máxima admisible (MAPL)</a:t>
            </a:r>
          </a:p>
        </p:txBody>
      </p:sp>
      <p:sp>
        <p:nvSpPr>
          <p:cNvPr id="4" name="UL"/>
          <p:cNvSpPr/>
          <p:nvPr/>
        </p:nvSpPr>
        <p:spPr>
          <a:xfrm>
            <a:off x="502920" y="1600200"/>
            <a:ext cx="5440680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Enlace ascendente (UE → gNB)</a:t>
            </a:r>
          </a:p>
        </p:txBody>
      </p:sp>
      <p:sp>
        <p:nvSpPr>
          <p:cNvPr id="5" name="Texto"/>
          <p:cNvSpPr txBox="1"/>
          <p:nvPr/>
        </p:nvSpPr>
        <p:spPr>
          <a:xfrm>
            <a:off x="502920" y="2194560"/>
            <a:ext cx="54406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1500" b="1">
                <a:solidFill>
                  <a:srgbClr val="1C4270"/>
                </a:solidFill>
                <a:latin typeface="Calibri"/>
              </a:rPr>
              <a:t>MAPL_UL = PIRE_UE + G_gNB − L_cable,gNB + G_div − S_gNB − ΣL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500" b="0">
                <a:solidFill>
                  <a:srgbClr val="1C4270"/>
                </a:solidFill>
                <a:latin typeface="Calibri"/>
              </a:rPr>
              <a:t>PIRE_UE = P_UE + G_UE − L_UE (23 dBm, clase 3)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500" b="0">
                <a:solidFill>
                  <a:srgbClr val="1C4270"/>
                </a:solidFill>
                <a:latin typeface="Calibri"/>
              </a:rPr>
              <a:t>S_gNB con la NF del gNB y las capas UL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500" b="0">
                <a:solidFill>
                  <a:srgbClr val="1C4270"/>
                </a:solidFill>
                <a:latin typeface="Calibri"/>
              </a:rPr>
              <a:t>Es el enlace limitante: fija el radio de cobertura</a:t>
            </a:r>
          </a:p>
        </p:txBody>
      </p:sp>
      <p:sp>
        <p:nvSpPr>
          <p:cNvPr id="6" name="DL"/>
          <p:cNvSpPr/>
          <p:nvPr/>
        </p:nvSpPr>
        <p:spPr>
          <a:xfrm>
            <a:off x="6263640" y="1600200"/>
            <a:ext cx="5440680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Enlace descendente (gNB → UE)</a:t>
            </a:r>
          </a:p>
        </p:txBody>
      </p:sp>
      <p:sp>
        <p:nvSpPr>
          <p:cNvPr id="7" name="Texto"/>
          <p:cNvSpPr txBox="1"/>
          <p:nvPr/>
        </p:nvSpPr>
        <p:spPr>
          <a:xfrm>
            <a:off x="6263640" y="2194560"/>
            <a:ext cx="54406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1500" b="1">
                <a:solidFill>
                  <a:srgbClr val="1C4270"/>
                </a:solidFill>
                <a:latin typeface="Calibri"/>
              </a:rPr>
              <a:t>MAPL_DL = PIRE_gNB + G_UE − L_UE + G_div − S_UE − ΣL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500" b="0">
                <a:solidFill>
                  <a:srgbClr val="1C4270"/>
                </a:solidFill>
                <a:latin typeface="Calibri"/>
              </a:rPr>
              <a:t>PIRE_gNB = P_gNB + G_gNB − L_cable,gNB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500" b="0">
                <a:solidFill>
                  <a:srgbClr val="1C4270"/>
                </a:solidFill>
                <a:latin typeface="Calibri"/>
              </a:rPr>
              <a:t>S_UE con la NF del UE y las capas DL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500" b="0">
                <a:solidFill>
                  <a:srgbClr val="1C4270"/>
                </a:solidFill>
                <a:latin typeface="Calibri"/>
              </a:rPr>
              <a:t>Determina el throughput medio que ofrece cada emplazamiento</a:t>
            </a:r>
          </a:p>
        </p:txBody>
      </p:sp>
      <p:sp>
        <p:nvSpPr>
          <p:cNvPr id="8" name="Pérdidas"/>
          <p:cNvSpPr/>
          <p:nvPr/>
        </p:nvSpPr>
        <p:spPr>
          <a:xfrm>
            <a:off x="502920" y="4526280"/>
            <a:ext cx="11201400" cy="109728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C4270"/>
                </a:solidFill>
                <a:latin typeface="Calibri"/>
              </a:rPr>
              <a:t>ΣL = pérdidas por vegetación + cuerpo + margen de lluvia + desvanecimiento + penetración</a:t>
            </a:r>
          </a:p>
          <a:p>
            <a:pPr algn="ctr"/>
            <a:r>
              <a:rPr sz="1500" b="0">
                <a:solidFill>
                  <a:srgbClr val="1C4270"/>
                </a:solidFill>
                <a:latin typeface="Calibri"/>
              </a:rPr>
              <a:t>Cada MCS tiene su propia sensibilidad → su propio MAPL → su propio radio de celda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Planificación de redes 5G</a:t>
            </a:r>
          </a:p>
        </p:txBody>
      </p:sp>
      <p:sp>
        <p:nvSpPr>
          <p:cNvPr id="3" name="Encabezado"/>
          <p:cNvSpPr txBox="1"/>
          <p:nvPr/>
        </p:nvSpPr>
        <p:spPr>
          <a:xfrm>
            <a:off x="366017" y="1050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2200" b="1">
                <a:solidFill>
                  <a:srgbClr val="1C4270"/>
                </a:solidFill>
                <a:latin typeface="Calibri"/>
              </a:rPr>
              <a:t>Modelos de propagación de 3GPP TR 38.901</a:t>
            </a:r>
          </a:p>
        </p:txBody>
      </p:sp>
      <p:graphicFrame>
        <p:nvGraphicFramePr>
          <p:cNvPr id="4" name="Tabla"/>
          <p:cNvGraphicFramePr>
            <a:graphicFrameLocks noGrp="1"/>
          </p:cNvGraphicFramePr>
          <p:nvPr/>
        </p:nvGraphicFramePr>
        <p:xfrm>
          <a:off x="502920" y="1600200"/>
          <a:ext cx="11201400" cy="2011680"/>
        </p:xfrm>
        <a:graphic>
          <a:graphicData uri="http://schemas.openxmlformats.org/drawingml/2006/table">
            <a:tbl>
              <a:tblPr firstRow="1" bandRow="0"/>
              <a:tblGrid>
                <a:gridCol w="914400"/>
                <a:gridCol w="2651760"/>
                <a:gridCol w="5715000"/>
                <a:gridCol w="192024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Escenario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Pérdidas NLOS' (d3D en m, fc en GHz)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Uso por defecto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UMi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Microcelda urbana (street canyon)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35,3·log d + 22,4 + 21,3·log fc − 0,3(hUT − 1,5)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Urbano denso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UMa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Macrocelda urbana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13,54 + 39,08·log d + 20·log fc − 0,6(hUT − 1,5)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Urbano, suburbano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RMa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Macrocelda rural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161,04 − 7,1·log W + 7,5·log h − … + (43,42 − 3,1·log hBS)(log d − 3) + 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Rural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o"/>
          <p:cNvSpPr txBox="1"/>
          <p:nvPr/>
        </p:nvSpPr>
        <p:spPr>
          <a:xfrm>
            <a:off x="502920" y="3886200"/>
            <a:ext cx="11201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700" b="0">
                <a:solidFill>
                  <a:srgbClr val="1C4270"/>
                </a:solidFill>
                <a:latin typeface="Calibri"/>
              </a:rPr>
              <a:t>PL_NLOS = máx(PL_LOS, PL'_NLOS), con los puntos de ruptura del modelo LOS (opcionalmente sólo PL'_NLOS, como en el Excel).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700" b="0">
                <a:solidFill>
                  <a:srgbClr val="1C4270"/>
                </a:solidFill>
                <a:latin typeface="Calibri"/>
              </a:rPr>
              <a:t>El radio de celda se obtiene invirtiendo numéricamente el modelo (bisección): la mayor distancia con PL(d) ≤ MAPL.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700" b="0">
                <a:solidFill>
                  <a:srgbClr val="1C4270"/>
                </a:solidFill>
                <a:latin typeface="Calibri"/>
              </a:rPr>
              <a:t>Validez de d2D: 10 m – 5 km. Los radios fuera de rango se señalan en la herramienta.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Planificación de redes 5G</a:t>
            </a:r>
          </a:p>
        </p:txBody>
      </p:sp>
      <p:sp>
        <p:nvSpPr>
          <p:cNvPr id="3" name="Encabezado"/>
          <p:cNvSpPr txBox="1"/>
          <p:nvPr/>
        </p:nvSpPr>
        <p:spPr>
          <a:xfrm>
            <a:off x="366017" y="1050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2200" b="1">
                <a:solidFill>
                  <a:srgbClr val="1C4270"/>
                </a:solidFill>
                <a:latin typeface="Calibri"/>
              </a:rPr>
              <a:t>Radio de celda y reparto del emplazamiento por MCS</a:t>
            </a:r>
          </a:p>
        </p:txBody>
      </p:sp>
      <p:sp>
        <p:nvSpPr>
          <p:cNvPr id="4" name="Anillo 6"/>
          <p:cNvSpPr/>
          <p:nvPr/>
        </p:nvSpPr>
        <p:spPr>
          <a:xfrm>
            <a:off x="914400" y="1645919"/>
            <a:ext cx="4206240" cy="4206240"/>
          </a:xfrm>
          <a:prstGeom prst="ellipse">
            <a:avLst/>
          </a:prstGeom>
          <a:solidFill>
            <a:srgbClr val="D9E2F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nillo 5"/>
          <p:cNvSpPr/>
          <p:nvPr/>
        </p:nvSpPr>
        <p:spPr>
          <a:xfrm>
            <a:off x="1597107" y="2328627"/>
            <a:ext cx="2840824" cy="2840824"/>
          </a:xfrm>
          <a:prstGeom prst="ellipse">
            <a:avLst/>
          </a:prstGeom>
          <a:solidFill>
            <a:srgbClr val="A9C4E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nillo 4"/>
          <p:cNvSpPr/>
          <p:nvPr/>
        </p:nvSpPr>
        <p:spPr>
          <a:xfrm>
            <a:off x="1948807" y="2680327"/>
            <a:ext cx="2137424" cy="2137424"/>
          </a:xfrm>
          <a:prstGeom prst="ellipse">
            <a:avLst/>
          </a:prstGeom>
          <a:solidFill>
            <a:srgbClr val="7AA3D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nillo 3"/>
          <p:cNvSpPr/>
          <p:nvPr/>
        </p:nvSpPr>
        <p:spPr>
          <a:xfrm>
            <a:off x="2311574" y="3043094"/>
            <a:ext cx="1411890" cy="1411890"/>
          </a:xfrm>
          <a:prstGeom prst="ellipse">
            <a:avLst/>
          </a:prstGeom>
          <a:solidFill>
            <a:srgbClr val="4A7EB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nillo 2"/>
          <p:cNvSpPr/>
          <p:nvPr/>
        </p:nvSpPr>
        <p:spPr>
          <a:xfrm>
            <a:off x="2584657" y="3316177"/>
            <a:ext cx="865725" cy="865725"/>
          </a:xfrm>
          <a:prstGeom prst="ellipse">
            <a:avLst/>
          </a:prstGeom>
          <a:solidFill>
            <a:srgbClr val="2E629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nillo 1"/>
          <p:cNvSpPr/>
          <p:nvPr/>
        </p:nvSpPr>
        <p:spPr>
          <a:xfrm>
            <a:off x="2882376" y="3613896"/>
            <a:ext cx="270287" cy="270287"/>
          </a:xfrm>
          <a:prstGeom prst="ellipse">
            <a:avLst/>
          </a:prstGeom>
          <a:solidFill>
            <a:srgbClr val="1F4E7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gNB"/>
          <p:cNvSpPr/>
          <p:nvPr/>
        </p:nvSpPr>
        <p:spPr>
          <a:xfrm>
            <a:off x="2907791" y="3639311"/>
            <a:ext cx="219456" cy="219456"/>
          </a:xfrm>
          <a:prstGeom prst="ellipse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a"/>
          <p:cNvGraphicFramePr>
            <a:graphicFrameLocks noGrp="1"/>
          </p:cNvGraphicFramePr>
          <p:nvPr/>
        </p:nvGraphicFramePr>
        <p:xfrm>
          <a:off x="5760720" y="1554480"/>
          <a:ext cx="3291840" cy="2304288"/>
        </p:xfrm>
        <a:graphic>
          <a:graphicData uri="http://schemas.openxmlformats.org/drawingml/2006/table">
            <a:tbl>
              <a:tblPr firstRow="1" bandRow="0"/>
              <a:tblGrid>
                <a:gridCol w="1463040"/>
                <a:gridCol w="914400"/>
                <a:gridCol w="91440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MCS UL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Radio (km)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% del emplaz.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  <a:latin typeface="Calibri"/>
                        </a:rPr>
                        <a:t>256QAM 6.5703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Calibri"/>
                        </a:rPr>
                        <a:t>0,010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Calibri"/>
                        </a:rPr>
                        <a:t>0 %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  <a:latin typeface="Calibri"/>
                        </a:rPr>
                        <a:t>64QAM 5.1152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Calibri"/>
                        </a:rPr>
                        <a:t>0,032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Calibri"/>
                        </a:rPr>
                        <a:t>4 %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  <a:latin typeface="Calibri"/>
                        </a:rPr>
                        <a:t>64QAM 3.6094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Calibri"/>
                        </a:rPr>
                        <a:t>0,051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Calibri"/>
                        </a:rPr>
                        <a:t>7 %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  <a:latin typeface="Calibri"/>
                        </a:rPr>
                        <a:t>16QAM 2.4063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Calibri"/>
                        </a:rPr>
                        <a:t>0,078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Calibri"/>
                        </a:rPr>
                        <a:t>15 %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  <a:latin typeface="Calibri"/>
                        </a:rPr>
                        <a:t>16QAM 1.4766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Calibri"/>
                        </a:rPr>
                        <a:t>0,103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Calibri"/>
                        </a:rPr>
                        <a:t>20 %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  <a:latin typeface="Calibri"/>
                        </a:rPr>
                        <a:t>QPSK 0.6016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Calibri"/>
                        </a:rPr>
                        <a:t>0,153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Calibri"/>
                        </a:rPr>
                        <a:t>54 %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</a:tr>
            </a:tbl>
          </a:graphicData>
        </a:graphic>
      </p:graphicFrame>
      <p:sp>
        <p:nvSpPr>
          <p:cNvPr id="12" name="Texto"/>
          <p:cNvSpPr txBox="1"/>
          <p:nvPr/>
        </p:nvSpPr>
        <p:spPr>
          <a:xfrm>
            <a:off x="9235440" y="1508760"/>
            <a:ext cx="26517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1500" b="1">
                <a:solidFill>
                  <a:srgbClr val="1C4270"/>
                </a:solidFill>
                <a:latin typeface="Calibri"/>
              </a:rPr>
              <a:t>Superficie del emplazamiento</a:t>
            </a:r>
          </a:p>
          <a:p>
            <a:pPr marL="0" indent="0">
              <a:spcAft>
                <a:spcPts val="600"/>
              </a:spcAft>
              <a:buNone/>
            </a:pPr>
            <a:r>
              <a:rPr sz="1500" b="0">
                <a:solidFill>
                  <a:srgbClr val="1C4270"/>
                </a:solidFill>
                <a:latin typeface="Calibri"/>
              </a:rPr>
              <a:t>A = K · R²</a:t>
            </a:r>
          </a:p>
          <a:p>
            <a:pPr marL="0" indent="0">
              <a:spcAft>
                <a:spcPts val="600"/>
              </a:spcAft>
              <a:buNone/>
            </a:pPr>
            <a:r>
              <a:rPr sz="1400" b="0">
                <a:solidFill>
                  <a:srgbClr val="595959"/>
                </a:solidFill>
                <a:latin typeface="Calibri"/>
              </a:rPr>
              <a:t>K = 1,95 (trisectorial)
K = 2,6 (omnidireccional)</a:t>
            </a:r>
          </a:p>
          <a:p>
            <a:pPr marL="0" indent="0">
              <a:spcAft>
                <a:spcPts val="600"/>
              </a:spcAft>
              <a:buNone/>
            </a:pPr>
            <a:r>
              <a:rPr sz="1500" b="1">
                <a:solidFill>
                  <a:srgbClr val="1C4270"/>
                </a:solidFill>
                <a:latin typeface="Calibri"/>
              </a:rPr>
              <a:t>Fracción de cada MCS</a:t>
            </a:r>
          </a:p>
          <a:p>
            <a:pPr marL="0" indent="0">
              <a:spcAft>
                <a:spcPts val="600"/>
              </a:spcAft>
              <a:buNone/>
            </a:pPr>
            <a:r>
              <a:rPr sz="1400" b="0">
                <a:solidFill>
                  <a:srgbClr val="595959"/>
                </a:solidFill>
                <a:latin typeface="Calibri"/>
              </a:rPr>
              <a:t>anillo entre su radio y el anterior, dividido por la superficie máxima</a:t>
            </a:r>
          </a:p>
          <a:p>
            <a:pPr marL="0" indent="0">
              <a:spcAft>
                <a:spcPts val="600"/>
              </a:spcAft>
              <a:buNone/>
            </a:pPr>
            <a:r>
              <a:rPr sz="1500" b="1">
                <a:solidFill>
                  <a:srgbClr val="1C4270"/>
                </a:solidFill>
                <a:latin typeface="Calibri"/>
              </a:rPr>
              <a:t>Throughput medio</a:t>
            </a:r>
          </a:p>
          <a:p>
            <a:pPr marL="0" indent="0">
              <a:spcAft>
                <a:spcPts val="600"/>
              </a:spcAft>
              <a:buNone/>
            </a:pPr>
            <a:r>
              <a:rPr sz="1500" b="0">
                <a:solidFill>
                  <a:srgbClr val="1C4270"/>
                </a:solidFill>
                <a:latin typeface="Calibri"/>
              </a:rPr>
              <a:t>Σ fracciónᵢ · throughputᵢ</a:t>
            </a:r>
          </a:p>
        </p:txBody>
      </p:sp>
      <p:sp>
        <p:nvSpPr>
          <p:cNvPr id="13" name="Texto"/>
          <p:cNvSpPr txBox="1"/>
          <p:nvPr/>
        </p:nvSpPr>
        <p:spPr>
          <a:xfrm>
            <a:off x="5760720" y="4114800"/>
            <a:ext cx="32918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1400" b="0">
                <a:solidFill>
                  <a:srgbClr val="595959"/>
                </a:solidFill>
                <a:latin typeface="Calibri"/>
              </a:rPr>
              <a:t>Zona urbana, UMa a 4,7 GHz.</a:t>
            </a:r>
          </a:p>
          <a:p>
            <a:pPr marL="0" indent="0">
              <a:spcAft>
                <a:spcPts val="600"/>
              </a:spcAft>
              <a:buNone/>
            </a:pPr>
            <a:r>
              <a:rPr sz="1400" b="0">
                <a:solidFill>
                  <a:srgbClr val="595959"/>
                </a:solidFill>
                <a:latin typeface="Calibri"/>
              </a:rPr>
              <a:t>La MCS más robusta (QPSK) da el radio de cobertura: 0,153 km.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Planificación de redes 5G</a:t>
            </a:r>
          </a:p>
        </p:txBody>
      </p:sp>
      <p:sp>
        <p:nvSpPr>
          <p:cNvPr id="3" name="Encabezado"/>
          <p:cNvSpPr txBox="1"/>
          <p:nvPr/>
        </p:nvSpPr>
        <p:spPr>
          <a:xfrm>
            <a:off x="366017" y="1050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2200" b="1">
                <a:solidFill>
                  <a:srgbClr val="1C4270"/>
                </a:solidFill>
                <a:latin typeface="Calibri"/>
              </a:rPr>
              <a:t>Emparejamiento UL ↔ DL y throughput medio (zona urbana)</a:t>
            </a:r>
          </a:p>
        </p:txBody>
      </p:sp>
      <p:graphicFrame>
        <p:nvGraphicFramePr>
          <p:cNvPr id="4" name="Tabla"/>
          <p:cNvGraphicFramePr>
            <a:graphicFrameLocks noGrp="1"/>
          </p:cNvGraphicFramePr>
          <p:nvPr/>
        </p:nvGraphicFramePr>
        <p:xfrm>
          <a:off x="502920" y="1600200"/>
          <a:ext cx="11201400" cy="2688336"/>
        </p:xfrm>
        <a:graphic>
          <a:graphicData uri="http://schemas.openxmlformats.org/drawingml/2006/table">
            <a:tbl>
              <a:tblPr firstRow="1" bandRow="0"/>
              <a:tblGrid>
                <a:gridCol w="1737360"/>
                <a:gridCol w="1371600"/>
                <a:gridCol w="1371600"/>
                <a:gridCol w="1920240"/>
                <a:gridCol w="1371600"/>
                <a:gridCol w="1280160"/>
                <a:gridCol w="214884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MCS UL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MAPL UL (dB)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Radio UL (km)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MCS DL elegida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Radio DL (km)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% emplaz.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Throughput DL (Mbps)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256QAM 6.5703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81,9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0,010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256QAM 7.4063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0,060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16 %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1.364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64QAM 5.1152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89,3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0,032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256QAM 7.4063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0,060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0 %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1.364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64QAM 3.6094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95,5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0,051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256QAM 7.4063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0,060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0 %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1.364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16QAM 2.4063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101,6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0,078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256QAM 6.5703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0,074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9 %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1.218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16QAM 1.4766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106,2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0,103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256QAM 5.3320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0,102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22 %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977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QPSK 0.6016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112,6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0,153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64QAM 4.2129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0,148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52 %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774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</a:tr>
            </a:tbl>
          </a:graphicData>
        </a:graphic>
      </p:graphicFrame>
      <p:sp>
        <p:nvSpPr>
          <p:cNvPr id="5" name="Dato 0"/>
          <p:cNvSpPr/>
          <p:nvPr/>
        </p:nvSpPr>
        <p:spPr>
          <a:xfrm>
            <a:off x="502920" y="4617720"/>
            <a:ext cx="3611880" cy="118872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400" b="1">
                <a:solidFill>
                  <a:srgbClr val="1F4E79"/>
                </a:solidFill>
                <a:latin typeface="Calibri"/>
              </a:rPr>
              <a:t>0,153 km</a:t>
            </a:r>
          </a:p>
          <a:p>
            <a:pPr algn="ctr"/>
            <a:r>
              <a:rPr sz="1400" b="0">
                <a:solidFill>
                  <a:srgbClr val="595959"/>
                </a:solidFill>
                <a:latin typeface="Calibri"/>
              </a:rPr>
              <a:t>radio de cobertura (UL)</a:t>
            </a:r>
          </a:p>
        </p:txBody>
      </p:sp>
      <p:sp>
        <p:nvSpPr>
          <p:cNvPr id="6" name="Dato 1"/>
          <p:cNvSpPr/>
          <p:nvPr/>
        </p:nvSpPr>
        <p:spPr>
          <a:xfrm>
            <a:off x="4297680" y="4617720"/>
            <a:ext cx="3611880" cy="118872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400" b="1">
                <a:solidFill>
                  <a:srgbClr val="1F4E79"/>
                </a:solidFill>
                <a:latin typeface="Calibri"/>
              </a:rPr>
              <a:t>0,0458 km²</a:t>
            </a:r>
          </a:p>
          <a:p>
            <a:pPr algn="ctr"/>
            <a:r>
              <a:rPr sz="1400" b="0">
                <a:solidFill>
                  <a:srgbClr val="595959"/>
                </a:solidFill>
                <a:latin typeface="Calibri"/>
              </a:rPr>
              <a:t>superficie por emplazamiento</a:t>
            </a:r>
          </a:p>
        </p:txBody>
      </p:sp>
      <p:sp>
        <p:nvSpPr>
          <p:cNvPr id="7" name="Dato 2"/>
          <p:cNvSpPr/>
          <p:nvPr/>
        </p:nvSpPr>
        <p:spPr>
          <a:xfrm>
            <a:off x="8092440" y="4617720"/>
            <a:ext cx="3611880" cy="118872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400" b="1">
                <a:solidFill>
                  <a:srgbClr val="1F4E79"/>
                </a:solidFill>
                <a:latin typeface="Calibri"/>
              </a:rPr>
              <a:t>956 Mbps</a:t>
            </a:r>
          </a:p>
          <a:p>
            <a:pPr algn="ctr"/>
            <a:r>
              <a:rPr sz="1400" b="0">
                <a:solidFill>
                  <a:srgbClr val="595959"/>
                </a:solidFill>
                <a:latin typeface="Calibri"/>
              </a:rPr>
              <a:t>throughput DL medio por emplazamiento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Planificación de redes 5G</a:t>
            </a:r>
          </a:p>
        </p:txBody>
      </p:sp>
      <p:sp>
        <p:nvSpPr>
          <p:cNvPr id="3" name="Encabezado"/>
          <p:cNvSpPr txBox="1"/>
          <p:nvPr/>
        </p:nvSpPr>
        <p:spPr>
          <a:xfrm>
            <a:off x="366017" y="1050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2200" b="1">
                <a:solidFill>
                  <a:srgbClr val="1C4270"/>
                </a:solidFill>
                <a:latin typeface="Calibri"/>
              </a:rPr>
              <a:t>Capacidad: demanda de tráfico en hora cargada</a:t>
            </a:r>
          </a:p>
        </p:txBody>
      </p:sp>
      <p:sp>
        <p:nvSpPr>
          <p:cNvPr id="4" name="Demanda"/>
          <p:cNvSpPr/>
          <p:nvPr/>
        </p:nvSpPr>
        <p:spPr>
          <a:xfrm>
            <a:off x="502920" y="1600200"/>
            <a:ext cx="6035040" cy="1051560"/>
          </a:xfrm>
          <a:prstGeom prst="rect">
            <a:avLst/>
          </a:prstGeom>
          <a:solidFill>
            <a:srgbClr val="FCE4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404040"/>
                </a:solidFill>
                <a:latin typeface="Calibri"/>
              </a:rPr>
              <a:t>Demanda por abonado (Mbps) =</a:t>
            </a:r>
          </a:p>
          <a:p>
            <a:pPr algn="ctr"/>
            <a:r>
              <a:rPr sz="1500" b="0">
                <a:solidFill>
                  <a:srgbClr val="404040"/>
                </a:solidFill>
                <a:latin typeface="Calibri"/>
              </a:rPr>
              <a:t>GB/mes · 8000 / (días · horas de uso · 3600) · factor de actividad</a:t>
            </a:r>
          </a:p>
        </p:txBody>
      </p:sp>
      <p:sp>
        <p:nvSpPr>
          <p:cNvPr id="5" name="Texto"/>
          <p:cNvSpPr txBox="1"/>
          <p:nvPr/>
        </p:nvSpPr>
        <p:spPr>
          <a:xfrm>
            <a:off x="502920" y="2834640"/>
            <a:ext cx="603504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600" b="0">
                <a:solidFill>
                  <a:srgbClr val="1C4270"/>
                </a:solidFill>
                <a:latin typeface="Calibri"/>
              </a:rPr>
              <a:t>Abonados = población · mercado direccionable · cuota, repartidos entre zonas.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600" b="0">
                <a:solidFill>
                  <a:srgbClr val="1C4270"/>
                </a:solidFill>
                <a:latin typeface="Calibri"/>
              </a:rPr>
              <a:t>Demanda de la zona = abonados · demanda por abonado · (1 + crecimiento del tráfico)^(año − 1).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600" b="0">
                <a:solidFill>
                  <a:srgbClr val="1C4270"/>
                </a:solidFill>
                <a:latin typeface="Calibri"/>
              </a:rPr>
              <a:t>Emplazamientos por capacidad = demanda / throughput DL medio por emplazamiento.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500" b="0">
                <a:solidFill>
                  <a:srgbClr val="595959"/>
                </a:solidFill>
                <a:latin typeface="Calibri"/>
              </a:rPr>
              <a:t>Por defecto: 30 días, 2 h de uso al día y factor de actividad del 50 %.</a:t>
            </a:r>
          </a:p>
        </p:txBody>
      </p:sp>
      <p:graphicFrame>
        <p:nvGraphicFramePr>
          <p:cNvPr id="6" name="Tabla"/>
          <p:cNvGraphicFramePr>
            <a:graphicFrameLocks noGrp="1"/>
          </p:cNvGraphicFramePr>
          <p:nvPr/>
        </p:nvGraphicFramePr>
        <p:xfrm>
          <a:off x="6949440" y="1600200"/>
          <a:ext cx="4754880" cy="1920240"/>
        </p:xfrm>
        <a:graphic>
          <a:graphicData uri="http://schemas.openxmlformats.org/drawingml/2006/table">
            <a:tbl>
              <a:tblPr firstRow="1" bandRow="0"/>
              <a:tblGrid>
                <a:gridCol w="2011680"/>
                <a:gridCol w="1280160"/>
                <a:gridCol w="146304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Clase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GB/mes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% abonados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Calibri"/>
                        </a:rPr>
                        <a:t>Muy intensivo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  <a:latin typeface="Calibri"/>
                        </a:rPr>
                        <a:t>35 %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Calibri"/>
                        </a:rPr>
                        <a:t>Intensivo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  <a:latin typeface="Calibri"/>
                        </a:rPr>
                        <a:t>40 %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Calibri"/>
                        </a:rPr>
                        <a:t>Medio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  <a:latin typeface="Calibri"/>
                        </a:rPr>
                        <a:t>20 %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Calibri"/>
                        </a:rPr>
                        <a:t>Ligero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  <a:latin typeface="Calibri"/>
                        </a:rPr>
                        <a:t>5 %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</a:tr>
            </a:tbl>
          </a:graphicData>
        </a:graphic>
      </p:graphicFrame>
      <p:sp>
        <p:nvSpPr>
          <p:cNvPr id="7" name="KPI 0"/>
          <p:cNvSpPr/>
          <p:nvPr/>
        </p:nvSpPr>
        <p:spPr>
          <a:xfrm>
            <a:off x="6949440" y="3886200"/>
            <a:ext cx="1508760" cy="118872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1F4E79"/>
                </a:solidFill>
                <a:latin typeface="Calibri"/>
              </a:rPr>
              <a:t>390.000</a:t>
            </a:r>
          </a:p>
          <a:p>
            <a:pPr algn="ctr"/>
            <a:r>
              <a:rPr sz="1200" b="0">
                <a:solidFill>
                  <a:srgbClr val="595959"/>
                </a:solidFill>
                <a:latin typeface="Calibri"/>
              </a:rPr>
              <a:t>abonados año 1</a:t>
            </a:r>
          </a:p>
        </p:txBody>
      </p:sp>
      <p:sp>
        <p:nvSpPr>
          <p:cNvPr id="8" name="KPI 1"/>
          <p:cNvSpPr/>
          <p:nvPr/>
        </p:nvSpPr>
        <p:spPr>
          <a:xfrm>
            <a:off x="8567928" y="3886200"/>
            <a:ext cx="1508760" cy="118872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1F4E79"/>
                </a:solidFill>
                <a:latin typeface="Calibri"/>
              </a:rPr>
              <a:t>20,05 GB</a:t>
            </a:r>
          </a:p>
          <a:p>
            <a:pPr algn="ctr"/>
            <a:r>
              <a:rPr sz="1200" b="0">
                <a:solidFill>
                  <a:srgbClr val="595959"/>
                </a:solidFill>
                <a:latin typeface="Calibri"/>
              </a:rPr>
              <a:t>consumo medio</a:t>
            </a:r>
          </a:p>
        </p:txBody>
      </p:sp>
      <p:sp>
        <p:nvSpPr>
          <p:cNvPr id="9" name="KPI 2"/>
          <p:cNvSpPr/>
          <p:nvPr/>
        </p:nvSpPr>
        <p:spPr>
          <a:xfrm>
            <a:off x="10186416" y="3886200"/>
            <a:ext cx="1508760" cy="118872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1F4E79"/>
                </a:solidFill>
                <a:latin typeface="Calibri"/>
              </a:rPr>
              <a:t>0,371 Mbps</a:t>
            </a:r>
          </a:p>
          <a:p>
            <a:pPr algn="ctr"/>
            <a:r>
              <a:rPr sz="1200" b="0">
                <a:solidFill>
                  <a:srgbClr val="595959"/>
                </a:solidFill>
                <a:latin typeface="Calibri"/>
              </a:rPr>
              <a:t>por abonado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Planificación de redes 5G</a:t>
            </a:r>
          </a:p>
        </p:txBody>
      </p:sp>
      <p:sp>
        <p:nvSpPr>
          <p:cNvPr id="3" name="Encabezado"/>
          <p:cNvSpPr txBox="1"/>
          <p:nvPr/>
        </p:nvSpPr>
        <p:spPr>
          <a:xfrm>
            <a:off x="366017" y="1050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2200" b="1">
                <a:solidFill>
                  <a:srgbClr val="1C4270"/>
                </a:solidFill>
                <a:latin typeface="Calibri"/>
              </a:rPr>
              <a:t>Previsión a cinco años: emplazamientos finales por zona</a:t>
            </a:r>
          </a:p>
        </p:txBody>
      </p:sp>
      <p:graphicFrame>
        <p:nvGraphicFramePr>
          <p:cNvPr id="4" name="Gráfico emplazamientos"/>
          <p:cNvGraphicFramePr>
            <a:graphicFrameLocks noGrp="1"/>
          </p:cNvGraphicFramePr>
          <p:nvPr/>
        </p:nvGraphicFramePr>
        <p:xfrm>
          <a:off x="502920" y="1463040"/>
          <a:ext cx="694944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Tabla"/>
          <p:cNvGraphicFramePr>
            <a:graphicFrameLocks noGrp="1"/>
          </p:cNvGraphicFramePr>
          <p:nvPr/>
        </p:nvGraphicFramePr>
        <p:xfrm>
          <a:off x="7772400" y="1600200"/>
          <a:ext cx="3931920" cy="2286000"/>
        </p:xfrm>
        <a:graphic>
          <a:graphicData uri="http://schemas.openxmlformats.org/drawingml/2006/table">
            <a:tbl>
              <a:tblPr firstRow="1" bandRow="0"/>
              <a:tblGrid>
                <a:gridCol w="1280160"/>
                <a:gridCol w="1371600"/>
                <a:gridCol w="128016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Zona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Cobertura
año 1 → 5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Capacidad
año 1 → 5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  <a:latin typeface="Calibri"/>
                        </a:rPr>
                        <a:t>Urbano denso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Calibri"/>
                        </a:rPr>
                        <a:t>37.169 → 53.098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Calibri"/>
                        </a:rPr>
                        <a:t>36 → 272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  <a:latin typeface="Calibri"/>
                        </a:rPr>
                        <a:t>Urbano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Calibri"/>
                        </a:rPr>
                        <a:t>19.654 → 32.756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Calibri"/>
                        </a:rPr>
                        <a:t>69 → 532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  <a:latin typeface="Calibri"/>
                        </a:rPr>
                        <a:t>Suburbano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Calibri"/>
                        </a:rPr>
                        <a:t>22.795 → 38.751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Calibri"/>
                        </a:rPr>
                        <a:t>58 → 385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  <a:latin typeface="Calibri"/>
                        </a:rPr>
                        <a:t>Rural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Calibri"/>
                        </a:rPr>
                        <a:t>1.647 → 3.569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Calibri"/>
                        </a:rPr>
                        <a:t>9 → 50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</a:tr>
            </a:tbl>
          </a:graphicData>
        </a:graphic>
      </p:graphicFrame>
      <p:sp>
        <p:nvSpPr>
          <p:cNvPr id="6" name="Texto"/>
          <p:cNvSpPr txBox="1"/>
          <p:nvPr/>
        </p:nvSpPr>
        <p:spPr>
          <a:xfrm>
            <a:off x="7772400" y="4114800"/>
            <a:ext cx="39319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1500" b="0">
                <a:solidFill>
                  <a:srgbClr val="1C4270"/>
                </a:solidFill>
                <a:latin typeface="Calibri"/>
              </a:rPr>
              <a:t>Con los parámetros por defecto manda la cobertura: las bandas altas (28 y 4,7 GHz) dan radios pequeños.</a:t>
            </a:r>
          </a:p>
          <a:p>
            <a:pPr marL="0" indent="0">
              <a:spcAft>
                <a:spcPts val="600"/>
              </a:spcAft>
              <a:buNone/>
            </a:pPr>
            <a:r>
              <a:rPr sz="1400" b="0">
                <a:solidFill>
                  <a:srgbClr val="595959"/>
                </a:solidFill>
                <a:latin typeface="Calibri"/>
              </a:rPr>
              <a:t>El artículo usa una demanda ~13 veces mayor por abonado; con ella la capacidad supera a la cobertura en el año 5.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Planificación de redes 5G</a:t>
            </a:r>
          </a:p>
        </p:txBody>
      </p:sp>
      <p:sp>
        <p:nvSpPr>
          <p:cNvPr id="3" name="Encabezado"/>
          <p:cNvSpPr txBox="1"/>
          <p:nvPr/>
        </p:nvSpPr>
        <p:spPr>
          <a:xfrm>
            <a:off x="366017" y="1050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2200" b="1">
                <a:solidFill>
                  <a:srgbClr val="1C4270"/>
                </a:solidFill>
                <a:latin typeface="Calibri"/>
              </a:rPr>
              <a:t>La herramienta web Planificación 5G</a:t>
            </a:r>
          </a:p>
        </p:txBody>
      </p:sp>
      <p:pic>
        <p:nvPicPr>
          <p:cNvPr id="4" name="Captura balance de enlace" descr="shot_l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508760"/>
            <a:ext cx="6217920" cy="4906328"/>
          </a:xfrm>
          <a:prstGeom prst="rect">
            <a:avLst/>
          </a:prstGeom>
          <a:ln>
            <a:solidFill>
              <a:srgbClr val="BFBFBF"/>
            </a:solidFill>
          </a:ln>
        </p:spPr>
      </p:pic>
      <p:sp>
        <p:nvSpPr>
          <p:cNvPr id="5" name="Texto"/>
          <p:cNvSpPr txBox="1"/>
          <p:nvPr/>
        </p:nvSpPr>
        <p:spPr>
          <a:xfrm>
            <a:off x="502920" y="1508760"/>
            <a:ext cx="47548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1600" b="0">
                <a:solidFill>
                  <a:srgbClr val="1C4270"/>
                </a:solidFill>
                <a:latin typeface="Calibri"/>
              </a:rPr>
              <a:t>Aplicación web (React + TypeScript) que se usa desde el navegador, sin instalación.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600" b="0">
                <a:solidFill>
                  <a:srgbClr val="1C4270"/>
                </a:solidFill>
                <a:latin typeface="Calibri"/>
              </a:rPr>
              <a:t>Guía: método y supuestos.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600" b="0">
                <a:solidFill>
                  <a:srgbClr val="1C4270"/>
                </a:solidFill>
                <a:latin typeface="Calibri"/>
              </a:rPr>
              <a:t>Capa física y throughput: tabla de MCS de cada zona.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600" b="0">
                <a:solidFill>
                  <a:srgbClr val="1C4270"/>
                </a:solidFill>
                <a:latin typeface="Calibri"/>
              </a:rPr>
              <a:t>Balance de enlace: equipos, pérdidas, propagación y 6 MCS UL.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600" b="0">
                <a:solidFill>
                  <a:srgbClr val="1C4270"/>
                </a:solidFill>
                <a:latin typeface="Calibri"/>
              </a:rPr>
              <a:t>Emplazamientos: mercado, previsión, tablas y gráficas.</a:t>
            </a:r>
          </a:p>
          <a:p>
            <a:pPr marL="0" indent="0">
              <a:spcAft>
                <a:spcPts val="600"/>
              </a:spcAft>
              <a:buNone/>
            </a:pPr>
            <a:r>
              <a:rPr sz="1500" b="0">
                <a:solidFill>
                  <a:srgbClr val="595959"/>
                </a:solidFill>
                <a:latin typeface="Calibri"/>
              </a:rPr>
              <a:t>Recalcula al instante, guarda el escenario y lo exporta en JSON.</a:t>
            </a:r>
          </a:p>
          <a:p>
            <a:pPr marL="0" indent="0">
              <a:spcAft>
                <a:spcPts val="600"/>
              </a:spcAft>
              <a:buNone/>
            </a:pPr>
            <a:r>
              <a:rPr sz="1500" b="0">
                <a:solidFill>
                  <a:srgbClr val="595959"/>
                </a:solidFill>
                <a:latin typeface="Calibri"/>
              </a:rPr>
              <a:t>Motor de cálculo con 25 tests automáticos frente a valores 3GPP.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Planificación de redes 5G</a:t>
            </a:r>
          </a:p>
        </p:txBody>
      </p:sp>
      <p:sp>
        <p:nvSpPr>
          <p:cNvPr id="3" name="Encabezado"/>
          <p:cNvSpPr txBox="1"/>
          <p:nvPr/>
        </p:nvSpPr>
        <p:spPr>
          <a:xfrm>
            <a:off x="366017" y="1050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2200" b="1">
                <a:solidFill>
                  <a:srgbClr val="1C4270"/>
                </a:solidFill>
                <a:latin typeface="Calibri"/>
              </a:rPr>
              <a:t>Resultados en la herramienta</a:t>
            </a:r>
          </a:p>
        </p:txBody>
      </p:sp>
      <p:pic>
        <p:nvPicPr>
          <p:cNvPr id="4" name="Captura emplazamientos" descr="shot_s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1508760"/>
            <a:ext cx="6042991" cy="4343400"/>
          </a:xfrm>
          <a:prstGeom prst="rect">
            <a:avLst/>
          </a:prstGeom>
          <a:ln>
            <a:solidFill>
              <a:srgbClr val="BFBFBF"/>
            </a:solidFill>
          </a:ln>
        </p:spPr>
      </p:pic>
      <p:sp>
        <p:nvSpPr>
          <p:cNvPr id="5" name="Texto"/>
          <p:cNvSpPr txBox="1"/>
          <p:nvPr/>
        </p:nvSpPr>
        <p:spPr>
          <a:xfrm>
            <a:off x="502920" y="594360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sz="1300" b="0">
                <a:solidFill>
                  <a:srgbClr val="595959"/>
                </a:solidFill>
                <a:latin typeface="Calibri"/>
              </a:rPr>
              <a:t>Pestaña «Emplazamientos»: recuento por cobertura, capacidad y final, con la evolución de abonados y demanda.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Planificación de redes 5G</a:t>
            </a:r>
          </a:p>
        </p:txBody>
      </p:sp>
      <p:sp>
        <p:nvSpPr>
          <p:cNvPr id="3" name="Encabezado"/>
          <p:cNvSpPr txBox="1"/>
          <p:nvPr/>
        </p:nvSpPr>
        <p:spPr>
          <a:xfrm>
            <a:off x="366017" y="1050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2200" b="1">
                <a:solidFill>
                  <a:srgbClr val="1C4270"/>
                </a:solidFill>
                <a:latin typeface="Calibri"/>
              </a:rPr>
              <a:t>Revisión de la réplica en Excel de partida</a:t>
            </a:r>
          </a:p>
        </p:txBody>
      </p:sp>
      <p:graphicFrame>
        <p:nvGraphicFramePr>
          <p:cNvPr id="4" name="Tabla"/>
          <p:cNvGraphicFramePr>
            <a:graphicFrameLocks noGrp="1"/>
          </p:cNvGraphicFramePr>
          <p:nvPr/>
        </p:nvGraphicFramePr>
        <p:xfrm>
          <a:off x="502920" y="1600200"/>
          <a:ext cx="11201400" cy="3584448"/>
        </p:xfrm>
        <a:graphic>
          <a:graphicData uri="http://schemas.openxmlformats.org/drawingml/2006/table">
            <a:tbl>
              <a:tblPr firstRow="1" bandRow="0"/>
              <a:tblGrid>
                <a:gridCol w="6400800"/>
                <a:gridCol w="4800600"/>
              </a:tblGrid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Error detectado en el Excel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Corrección en la herramienta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Calibri"/>
                        </a:rPr>
                        <a:t>Urbano, suburbano y rural usan las pérdidas y el duplexado del urbano denso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  <a:latin typeface="Calibri"/>
                        </a:rPr>
                        <a:t>Cada zona usa sus propios parámetros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Calibri"/>
                        </a:rPr>
                        <a:t>El throughput DL se toma de la tabla UL; sólo se suman 4 de las 6 MCS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  <a:latin typeface="Calibri"/>
                        </a:rPr>
                        <a:t>Portadora DL propia y suma de las 6 MCS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Calibri"/>
                        </a:rPr>
                        <a:t>TBS fuera de norma y throughput dividido por 1024²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  <a:latin typeface="Calibri"/>
                        </a:rPr>
                        <a:t>TBS según TS 38.214 y Mbps = 10⁶ bit/s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Calibri"/>
                        </a:rPr>
                        <a:t>Altura del mástil usada como altura del UE; UMi en UL y UMa en DL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  <a:latin typeface="Calibri"/>
                        </a:rPr>
                        <a:t>Un único modelo por zona y alturas correctas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Calibri"/>
                        </a:rPr>
                        <a:t>Superficie del emplazamiento π·R²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  <a:latin typeface="Calibri"/>
                        </a:rPr>
                        <a:t>Celda hexagonal K·R², como el artículo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Calibri"/>
                        </a:rPr>
                        <a:t>Consumo mensual tratado como horario y sin el factor 8 (bytes → bits)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  <a:latin typeface="Calibri"/>
                        </a:rPr>
                        <a:t>Demanda dimensionalmente coherente</a:t>
                      </a:r>
                    </a:p>
                  </a:txBody>
                  <a:tcPr marL="54864" marR="54864" marT="18288" marB="18288" anchor="ctr">
                    <a:solidFill>
                      <a:srgbClr val="EAF1FB"/>
                    </a:solidFill>
                  </a:tcPr>
                </a:tc>
              </a:tr>
            </a:tbl>
          </a:graphicData>
        </a:graphic>
      </p:graphicFrame>
      <p:sp>
        <p:nvSpPr>
          <p:cNvPr id="5" name="Texto"/>
          <p:cNvSpPr txBox="1"/>
          <p:nvPr/>
        </p:nvSpPr>
        <p:spPr>
          <a:xfrm>
            <a:off x="502920" y="5349240"/>
            <a:ext cx="11201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1400" b="0">
                <a:solidFill>
                  <a:srgbClr val="595959"/>
                </a:solidFill>
                <a:latin typeface="Calibri"/>
              </a:rPr>
              <a:t>Unos 30 errores en total, documentados en docs/REVISION_EXCEL.md del repositorio.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Planificación de redes 5G</a:t>
            </a:r>
          </a:p>
        </p:txBody>
      </p:sp>
      <p:sp>
        <p:nvSpPr>
          <p:cNvPr id="3" name="Encabezado"/>
          <p:cNvSpPr txBox="1"/>
          <p:nvPr/>
        </p:nvSpPr>
        <p:spPr>
          <a:xfrm>
            <a:off x="366017" y="1050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2200" b="1">
                <a:solidFill>
                  <a:srgbClr val="1C4270"/>
                </a:solidFill>
                <a:latin typeface="Calibri"/>
              </a:rPr>
              <a:t>Conclusiones y líneas futuras</a:t>
            </a:r>
          </a:p>
        </p:txBody>
      </p:sp>
      <p:sp>
        <p:nvSpPr>
          <p:cNvPr id="4" name="Conclusiones"/>
          <p:cNvSpPr/>
          <p:nvPr/>
        </p:nvSpPr>
        <p:spPr>
          <a:xfrm>
            <a:off x="502920" y="1600200"/>
            <a:ext cx="5440680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Conclusiones</a:t>
            </a:r>
          </a:p>
        </p:txBody>
      </p:sp>
      <p:sp>
        <p:nvSpPr>
          <p:cNvPr id="5" name="Texto"/>
          <p:cNvSpPr txBox="1"/>
          <p:nvPr/>
        </p:nvSpPr>
        <p:spPr>
          <a:xfrm>
            <a:off x="502920" y="2194560"/>
            <a:ext cx="54406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600" b="0">
                <a:solidFill>
                  <a:srgbClr val="1C4270"/>
                </a:solidFill>
                <a:latin typeface="Calibri"/>
              </a:rPr>
              <a:t>El dimensionado combina dos ramas interdependientes: cobertura (UL) y capacidad (DL).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600" b="0">
                <a:solidFill>
                  <a:srgbClr val="1C4270"/>
                </a:solidFill>
                <a:latin typeface="Calibri"/>
              </a:rPr>
              <a:t>El emparejamiento de radios UL/DL garantiza enlaces dúplex equilibrados.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600" b="0">
                <a:solidFill>
                  <a:srgbClr val="1C4270"/>
                </a:solidFill>
                <a:latin typeface="Calibri"/>
              </a:rPr>
              <a:t>Las bandas altas dan mucha capacidad pero exigen muchos emplazamientos.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600" b="0">
                <a:solidFill>
                  <a:srgbClr val="1C4270"/>
                </a:solidFill>
                <a:latin typeface="Calibri"/>
              </a:rPr>
              <a:t>Una herramienta interactiva permite experimentar con cada parámetro.</a:t>
            </a:r>
          </a:p>
        </p:txBody>
      </p:sp>
      <p:sp>
        <p:nvSpPr>
          <p:cNvPr id="6" name="Futuro"/>
          <p:cNvSpPr/>
          <p:nvPr/>
        </p:nvSpPr>
        <p:spPr>
          <a:xfrm>
            <a:off x="6263640" y="1600200"/>
            <a:ext cx="5440680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Líneas futuras</a:t>
            </a:r>
          </a:p>
        </p:txBody>
      </p:sp>
      <p:sp>
        <p:nvSpPr>
          <p:cNvPr id="7" name="Texto"/>
          <p:cNvSpPr txBox="1"/>
          <p:nvPr/>
        </p:nvSpPr>
        <p:spPr>
          <a:xfrm>
            <a:off x="6263640" y="2194560"/>
            <a:ext cx="54406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600" b="0">
                <a:solidFill>
                  <a:srgbClr val="1C4270"/>
                </a:solidFill>
                <a:latin typeface="Calibri"/>
              </a:rPr>
              <a:t>Redes heterogéneas (macro + small cells) y distribución no uniforme de usuarios.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600" b="0">
                <a:solidFill>
                  <a:srgbClr val="1C4270"/>
                </a:solidFill>
                <a:latin typeface="Calibri"/>
              </a:rPr>
              <a:t>Dimensionado de capacidad UL y modelos de interferencia.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600" b="0">
                <a:solidFill>
                  <a:srgbClr val="1C4270"/>
                </a:solidFill>
                <a:latin typeface="Calibri"/>
              </a:rPr>
              <a:t>Modelos de interior (InH) y pérdidas O2I de TR 38.901.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600" b="0">
                <a:solidFill>
                  <a:srgbClr val="1C4270"/>
                </a:solidFill>
                <a:latin typeface="Calibri"/>
              </a:rPr>
              <a:t>Calibrar los parámetros con datos reales de un operador.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900"/>
              </a:spcAft>
              <a:buNone/>
            </a:pPr>
            <a:r>
              <a:rPr sz="2200" b="1">
                <a:latin typeface="Calibri"/>
              </a:rPr>
              <a:t>Bibliografía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Calibri"/>
              </a:rPr>
              <a:t>Y. Y. Wong y T. C. Chuah, «An online learning tool for 5G radio access network dimensioning», Journal of Engineering Science and Technology, 18(3), 1670–1684, 2023.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Calibri"/>
              </a:rPr>
              <a:t>3GPP TS 38.214: NR; Physical layer procedures for data.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Calibri"/>
              </a:rPr>
              <a:t>3GPP TS 38.101-1 / 38.101-2: NR; UE radio transmission and reception (FR1 / FR2).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Calibri"/>
              </a:rPr>
              <a:t>3GPP TR 38.901: Study on channel model for frequencies from 0.5 to 100 GHz.</a:t>
            </a:r>
          </a:p>
          <a:p>
            <a:pPr>
              <a:spcAft>
                <a:spcPts val="600"/>
              </a:spcAft>
            </a:pPr>
            <a:r>
              <a:rPr sz="1600" b="0">
                <a:latin typeface="Calibri"/>
              </a:rPr>
              <a:t>Herramienta: github.com/AntonioPortillaUAH/Planificaci-n5G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2878</Words>
  <Application>Microsoft Macintosh PowerPoint</Application>
  <PresentationFormat>Panorámica</PresentationFormat>
  <Paragraphs>641</Paragraphs>
  <Slides>29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3" baseType="lpstr">
      <vt:lpstr>Aptos</vt:lpstr>
      <vt:lpstr>Arial</vt:lpstr>
      <vt:lpstr>Calibri</vt:lpstr>
      <vt:lpstr>Tema de Office</vt:lpstr>
      <vt:lpstr>Comunicaciones Móviles</vt:lpstr>
      <vt:lpstr>Agenda</vt:lpstr>
      <vt:lpstr>Estudio de caso GSM</vt:lpstr>
      <vt:lpstr>Estudio de caso GSM</vt:lpstr>
      <vt:lpstr>Estudio de caso GSM</vt:lpstr>
      <vt:lpstr>Estudio de caso GSM</vt:lpstr>
      <vt:lpstr>Estudio de caso GSM</vt:lpstr>
      <vt:lpstr>Presentación de PowerPoint</vt:lpstr>
      <vt:lpstr>Estudio de caso GSM</vt:lpstr>
      <vt:lpstr>Estudio de caso GSM</vt:lpstr>
      <vt:lpstr>Estudio de caso GSM</vt:lpstr>
      <vt:lpstr>Estudio de caso GSM</vt:lpstr>
      <vt:lpstr>Estudio de caso GSM</vt:lpstr>
      <vt:lpstr>Estudio de caso GSM</vt:lpstr>
      <vt:lpstr>Establecimiento de llamada: RACH, AGCH y PCH</vt:lpstr>
      <vt:lpstr>Asignación previa de TCH (early assignment)</vt:lpstr>
      <vt:lpstr>Estudio de caso GSM</vt:lpstr>
      <vt:lpstr>Estudio de caso GSM</vt:lpstr>
      <vt:lpstr>Estudio de caso GSM</vt:lpstr>
      <vt:lpstr>Estudio de caso GSM</vt:lpstr>
      <vt:lpstr>Estudio de caso GSM</vt:lpstr>
      <vt:lpstr>Estudio de caso GSM</vt:lpstr>
      <vt:lpstr>Estudio de caso GSM</vt:lpstr>
      <vt:lpstr>Estudio de caso GSM</vt:lpstr>
      <vt:lpstr>Estudio de caso GSM</vt:lpstr>
      <vt:lpstr>Estudio de caso GSM</vt:lpstr>
      <vt:lpstr>Estudio de caso GSM</vt:lpstr>
      <vt:lpstr>Estudio de caso GSM</vt:lpstr>
      <vt:lpstr>Estudio de caso GSM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Portilla Figueras José Antonio</dc:creator>
  <cp:lastModifiedBy>Portilla Figueras José Antonio</cp:lastModifiedBy>
  <cp:revision>4</cp:revision>
  <cp:lastPrinted>2026-10-14T05:10:17Z</cp:lastPrinted>
  <dcterms:created xsi:type="dcterms:W3CDTF">2026-09-07T11:14:20Z</dcterms:created>
  <dcterms:modified xsi:type="dcterms:W3CDTF">2026-10-14T05:14:48Z</dcterms:modified>
</cp:coreProperties>
</file>